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Home  |  통합 운영 현황판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01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시뮬레이션 결과, 계산 상태 및 장비 운전 상태를 한 화면에서 확인하고 주요 운전조건을 조작합니다.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627632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627632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11338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핵심 해석 결과와 시스템 상태를 한 화면에서 확인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운전조건 변경에 따른 온도·유속 반응 관찰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질량오차나 계산 성능 저하 등 이상 징후를 신속하게 발견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UX01</a:t>
            </a:r>
          </a:p>
        </p:txBody>
      </p:sp>
      <p:sp>
        <p:nvSpPr>
          <p:cNvPr id="26" name="Oval 25"/>
          <p:cNvSpPr/>
          <p:nvPr/>
        </p:nvSpPr>
        <p:spPr>
          <a:xfrm>
            <a:off x="973836" y="2043684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" y="2075688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2077516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9" name="Oval 28"/>
          <p:cNvSpPr/>
          <p:nvPr/>
        </p:nvSpPr>
        <p:spPr>
          <a:xfrm>
            <a:off x="2272284" y="3122676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04288" y="3154680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04288" y="3156508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5774436" y="2985515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06440" y="3017520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3019348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5" name="Oval 34"/>
          <p:cNvSpPr/>
          <p:nvPr/>
        </p:nvSpPr>
        <p:spPr>
          <a:xfrm>
            <a:off x="4357116" y="4704588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89120" y="4736592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4738420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8" name="Oval 37"/>
          <p:cNvSpPr/>
          <p:nvPr/>
        </p:nvSpPr>
        <p:spPr>
          <a:xfrm>
            <a:off x="7909560" y="1874519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1876348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1847088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핵심 KPI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실내 평균·온도차·최대유속·질량오차·GPU</a:t>
            </a:r>
          </a:p>
        </p:txBody>
      </p:sp>
      <p:sp>
        <p:nvSpPr>
          <p:cNvPr id="41" name="Oval 40"/>
          <p:cNvSpPr/>
          <p:nvPr/>
        </p:nvSpPr>
        <p:spPr>
          <a:xfrm>
            <a:off x="7909560" y="2382012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2383840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2354580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3D 결과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온도/속도 전환, Fit/Reset, 실시간 갱신·정지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2889503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2891332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2862072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사용자 제어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R1–R5 운전조건과 R1 기류 방향 조작</a:t>
            </a:r>
          </a:p>
        </p:txBody>
      </p:sp>
      <p:sp>
        <p:nvSpPr>
          <p:cNvPr id="47" name="Oval 46"/>
          <p:cNvSpPr/>
          <p:nvPr/>
        </p:nvSpPr>
        <p:spPr>
          <a:xfrm>
            <a:off x="7909560" y="3396996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3398824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3369564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추이·실행 상태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온도·GPU·FPS 트렌드와 Solver 실행정보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UX02  1/3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Simulation Setup  |  Case &amp;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02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실험 조건 선택부터 모델·격자·물리모델·경계조건 검토와 실행까지 단계별로 구성하여 설정 누락이나 잘못된 실행을 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2_Simulation Setup_F1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5321808" cy="29672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8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F1 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X02_Simulation Setup_F2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08176"/>
            <a:ext cx="5321808" cy="29672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65392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F2 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F1 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실험 조건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3873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061033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1033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800">
                <a:solidFill>
                  <a:srgbClr val="334A5B"/>
                </a:solidFill>
                <a:latin typeface="맑은 고딕"/>
              </a:rPr>
              <a:t>Case Study 조건의 일관된 재사용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800">
                <a:solidFill>
                  <a:srgbClr val="334A5B"/>
                </a:solidFill>
                <a:latin typeface="맑은 고딕"/>
              </a:rPr>
              <a:t>실험 이름과 설정의 추적성 향상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F2 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실내공간 정보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8057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105217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5217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810">
                <a:solidFill>
                  <a:srgbClr val="334A5B"/>
                </a:solidFill>
                <a:latin typeface="맑은 고딕"/>
              </a:rPr>
              <a:t>해석 대상 실내공간이 의도한 조건으로 설정되었는지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UX02  SIMULATION SETUP</a:t>
            </a:r>
          </a:p>
        </p:txBody>
      </p:sp>
      <p:sp>
        <p:nvSpPr>
          <p:cNvPr id="40" name="Oval 39"/>
          <p:cNvSpPr/>
          <p:nvPr/>
        </p:nvSpPr>
        <p:spPr>
          <a:xfrm>
            <a:off x="1303020" y="2482596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35024" y="2514600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35024" y="2516428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3643883" y="1915667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75887" y="1947672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75887" y="1949500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4430268" y="2830068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62272" y="2862072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2863900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9185148" y="2784348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17152" y="2816352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2818180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594360" y="5184648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186476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157216"/>
            <a:ext cx="297179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32838"/>
                </a:solidFill>
                <a:latin typeface="맑은 고딕"/>
              </a:rPr>
              <a:t>Case 선택</a:t>
            </a:r>
            <a:r>
              <a:rPr sz="710">
                <a:solidFill>
                  <a:srgbClr val="526A7B"/>
                </a:solidFill>
                <a:latin typeface="맑은 고딕"/>
              </a:rPr>
              <a:t>  —  실험 조건별 Case 관리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5513832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515660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486400"/>
            <a:ext cx="297179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32838"/>
                </a:solidFill>
                <a:latin typeface="맑은 고딕"/>
              </a:rPr>
              <a:t>조건 설정</a:t>
            </a:r>
            <a:r>
              <a:rPr sz="710">
                <a:solidFill>
                  <a:srgbClr val="526A7B"/>
                </a:solidFill>
                <a:latin typeface="맑은 고딕"/>
              </a:rPr>
              <a:t>  —  실내·외 온습도·설정온도·목표시간</a:t>
            </a:r>
          </a:p>
        </p:txBody>
      </p:sp>
      <p:sp>
        <p:nvSpPr>
          <p:cNvPr id="58" name="Oval 57"/>
          <p:cNvSpPr/>
          <p:nvPr/>
        </p:nvSpPr>
        <p:spPr>
          <a:xfrm>
            <a:off x="594360" y="5843016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5844844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815583"/>
            <a:ext cx="297179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32838"/>
                </a:solidFill>
                <a:latin typeface="맑은 고딕"/>
              </a:rPr>
              <a:t>Case 생성</a:t>
            </a:r>
            <a:r>
              <a:rPr sz="710">
                <a:solidFill>
                  <a:srgbClr val="526A7B"/>
                </a:solidFill>
                <a:latin typeface="맑은 고딕"/>
              </a:rPr>
              <a:t>  —  기본 Case 복제·사용자 Case 생성</a:t>
            </a:r>
          </a:p>
        </p:txBody>
      </p:sp>
      <p:sp>
        <p:nvSpPr>
          <p:cNvPr id="61" name="Oval 60"/>
          <p:cNvSpPr/>
          <p:nvPr/>
        </p:nvSpPr>
        <p:spPr>
          <a:xfrm>
            <a:off x="6638544" y="5184648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38544" y="5186476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12864" y="5157216"/>
            <a:ext cx="2971799" cy="9784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공간 정보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실내공간 크기·중심·격자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UX02  2/3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Simulation Setup  |  Mesh &amp;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03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실험 조건 선택부터 모델·격자·물리모델·경계조건 검토와 실행까지 단계별로 구성하여 설정 누락이나 잘못된 실행을 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2_Simulation Setup_F3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5321808" cy="29672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8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F3  MESH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X02_Simulation Setup_F4_Phy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08176"/>
            <a:ext cx="5321808" cy="29672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65392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F4  PHYSICS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F3  MESH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격자·GPU 자원 예측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3873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061033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1033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7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70">
                <a:solidFill>
                  <a:srgbClr val="334A5B"/>
                </a:solidFill>
                <a:latin typeface="맑은 고딕"/>
              </a:rPr>
              <a:t>실행 전 계산 규모와 GPU 메모리 부담 예측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7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70">
                <a:solidFill>
                  <a:srgbClr val="334A5B"/>
                </a:solidFill>
                <a:latin typeface="맑은 고딕"/>
              </a:rPr>
              <a:t>과도한 격자로 인한 초기화 실패 가능성 감소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F4  PHYSICS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물리모델 설정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8057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105217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5217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Solver Inspector 없이 주요 물리조건 설정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Case별 난류·열확산 조건 비교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실행 전 설정 유효성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UX02  SIMULATION SETUP</a:t>
            </a:r>
          </a:p>
        </p:txBody>
      </p:sp>
      <p:sp>
        <p:nvSpPr>
          <p:cNvPr id="40" name="Oval 39"/>
          <p:cNvSpPr/>
          <p:nvPr/>
        </p:nvSpPr>
        <p:spPr>
          <a:xfrm>
            <a:off x="1613916" y="2482596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645920" y="2514600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0" y="2516428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4430268" y="2491739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2272" y="2523744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2525572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8417052" y="2455164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49056" y="2487168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49056" y="2488996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10639044" y="2491739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71048" y="2523744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71048" y="2525572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594360" y="5184648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186476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157216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격자 규모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Nx·Ny·Nz 및 전체 Cell 수 계산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5678424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680252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650992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GPU 메모리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Buffer·Texture 추정과 제한 확인</a:t>
            </a:r>
          </a:p>
        </p:txBody>
      </p:sp>
      <p:sp>
        <p:nvSpPr>
          <p:cNvPr id="58" name="Oval 57"/>
          <p:cNvSpPr/>
          <p:nvPr/>
        </p:nvSpPr>
        <p:spPr>
          <a:xfrm>
            <a:off x="6638544" y="5184648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38544" y="5186476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2864" y="5157216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LBM·난류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MRT·D3Q19/D3Q7·Smagorinsky 설정</a:t>
            </a:r>
          </a:p>
        </p:txBody>
      </p:sp>
      <p:sp>
        <p:nvSpPr>
          <p:cNvPr id="61" name="Oval 60"/>
          <p:cNvSpPr/>
          <p:nvPr/>
        </p:nvSpPr>
        <p:spPr>
          <a:xfrm>
            <a:off x="6638544" y="5678424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38544" y="5680252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12864" y="5650992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열·부력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온도·Prandtl·tau·열팽창 설정과 임시 보관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UX02  3/3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Simulation Setup  |  Boundary &amp;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04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실험 조건 선택부터 모델·격자·물리모델·경계조건 검토와 실행까지 단계별로 구성하여 설정 누락이나 잘못된 실행을 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2_Simulation Setup_F5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5321808" cy="29672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8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F5  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1376172"/>
            <a:ext cx="5385816" cy="30312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X02_Simulation Setup_F6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08176"/>
            <a:ext cx="5321808" cy="296722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65392" y="1508760"/>
            <a:ext cx="1024128" cy="265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316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87FE8"/>
                </a:solidFill>
                <a:latin typeface="맑은 고딕"/>
              </a:rPr>
              <a:t>F6 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F5 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경계조건 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23873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061033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1033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실내공간과 Solver 경계조건의 연결 상태 확인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50">
                <a:solidFill>
                  <a:srgbClr val="334A5B"/>
                </a:solidFill>
                <a:latin typeface="맑은 고딕"/>
              </a:rPr>
              <a:t>기존 컴포넌트를 직접 수정하는 과정 단순화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4553712"/>
            <a:ext cx="5321808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55664" y="4553712"/>
            <a:ext cx="50292" cy="1719072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645152"/>
            <a:ext cx="6766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E8"/>
                </a:solidFill>
                <a:latin typeface="맑은 고딕"/>
              </a:rPr>
              <a:t>F6 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26864"/>
            <a:ext cx="43159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32838"/>
                </a:solidFill>
                <a:latin typeface="맑은 고딕"/>
              </a:rPr>
              <a:t>최종 검토·실행 제어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8057" y="4992624"/>
            <a:ext cx="10972" cy="1133855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4946904"/>
            <a:ext cx="329952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C8090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5157216"/>
            <a:ext cx="324630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105217" y="4946904"/>
            <a:ext cx="164976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5217" y="5157216"/>
            <a:ext cx="1596542" cy="103327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최종 조건을 확인한 후 명시적으로 실행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20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720">
                <a:solidFill>
                  <a:srgbClr val="334A5B"/>
                </a:solidFill>
                <a:latin typeface="맑은 고딕"/>
              </a:rPr>
              <a:t>중지·재개 과정에서도 현재 결과 보존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UX02  SIMULATION SETUP</a:t>
            </a:r>
          </a:p>
        </p:txBody>
      </p:sp>
      <p:sp>
        <p:nvSpPr>
          <p:cNvPr id="40" name="Oval 39"/>
          <p:cNvSpPr/>
          <p:nvPr/>
        </p:nvSpPr>
        <p:spPr>
          <a:xfrm>
            <a:off x="1796796" y="1997964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2029968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0" y="2031796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3808476" y="2994660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40480" y="3026664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3028492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8307323" y="2756915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39327" y="2788920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7" y="2790748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10593324" y="2619756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25328" y="2651760"/>
            <a:ext cx="265176" cy="265176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25328" y="2653588"/>
            <a:ext cx="265176" cy="263347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Oval 51"/>
          <p:cNvSpPr/>
          <p:nvPr/>
        </p:nvSpPr>
        <p:spPr>
          <a:xfrm>
            <a:off x="594360" y="5184648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186476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157216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경계 검색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Inlet·Outlet·Wall 구성 확인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5678424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680252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650992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경계 설정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Inlet/Outlet/Wall 주요 파라미터</a:t>
            </a:r>
          </a:p>
        </p:txBody>
      </p:sp>
      <p:sp>
        <p:nvSpPr>
          <p:cNvPr id="58" name="Oval 57"/>
          <p:cNvSpPr/>
          <p:nvPr/>
        </p:nvSpPr>
        <p:spPr>
          <a:xfrm>
            <a:off x="6638544" y="5184648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38544" y="5186476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2864" y="5157216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최종 검토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Case부터 Boundary까지 요약</a:t>
            </a:r>
          </a:p>
        </p:txBody>
      </p:sp>
      <p:sp>
        <p:nvSpPr>
          <p:cNvPr id="61" name="Oval 60"/>
          <p:cNvSpPr/>
          <p:nvPr/>
        </p:nvSpPr>
        <p:spPr>
          <a:xfrm>
            <a:off x="6638544" y="5678424"/>
            <a:ext cx="201168" cy="201168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38544" y="5680252"/>
            <a:ext cx="201168" cy="19933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12864" y="5650992"/>
            <a:ext cx="2971799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32838"/>
                </a:solidFill>
                <a:latin typeface="맑은 고딕"/>
              </a:rPr>
              <a:t>실행 제어</a:t>
            </a:r>
            <a:r>
              <a:rPr sz="740">
                <a:solidFill>
                  <a:srgbClr val="526A7B"/>
                </a:solidFill>
                <a:latin typeface="맑은 고딕"/>
              </a:rPr>
              <a:t>  —  Start·Pause·Resume·Stop과 진행정보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Flow Visualization  |  3D 유동 결과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05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LBM 계산 결과를 3D 공간과 절단면으로 표현하여 온도 및 기류 속도 분포를 직관적으로 분석합니다.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3_Flow 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252728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252728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온도 분포와 기류 확산 형태를 공간적으로 확인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제트 도달거리와 고속 코어의 감쇠 특성 관찰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동일한 시점과 View에서 Case별 결과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관심 절단면의 국부 유동 특성 분석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513832"/>
            <a:ext cx="4050791" cy="566928"/>
          </a:xfrm>
          <a:prstGeom prst="roundRect">
            <a:avLst>
              <a:gd name="adj" fmla="val 6000"/>
            </a:avLst>
          </a:prstGeom>
          <a:solidFill>
            <a:srgbClr val="FFF8E7"/>
          </a:solidFill>
          <a:ln w="10160">
            <a:solidFill>
              <a:srgbClr val="EB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5586984"/>
            <a:ext cx="2011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B8434E"/>
                </a:solidFill>
                <a:latin typeface="맑은 고딕"/>
              </a:rPr>
              <a:t>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586984"/>
            <a:ext cx="357530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B8434E"/>
                </a:solidFill>
                <a:latin typeface="맑은 고딕"/>
              </a:rPr>
              <a:t>Pressure, Streamline, Comfort, Mass Flux는 현재 비활성 항목입니다.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UX03</a:t>
            </a:r>
          </a:p>
        </p:txBody>
      </p:sp>
      <p:sp>
        <p:nvSpPr>
          <p:cNvPr id="29" name="Oval 28"/>
          <p:cNvSpPr/>
          <p:nvPr/>
        </p:nvSpPr>
        <p:spPr>
          <a:xfrm>
            <a:off x="2043684" y="1641348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75688" y="1673352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8" y="1675180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754380" y="2235708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" y="2267712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2269540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3643883" y="3095244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75887" y="3127248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5887" y="3129076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6533388" y="2720339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65392" y="2752344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754172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7909560" y="1874519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1876348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1847088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결과 변수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Temperature·Velocity 전환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2382012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2383840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2354580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3축 절단면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X·Y·Z 표시 여부와 위치 조절</a:t>
            </a:r>
          </a:p>
        </p:txBody>
      </p:sp>
      <p:sp>
        <p:nvSpPr>
          <p:cNvPr id="47" name="Oval 46"/>
          <p:cNvSpPr/>
          <p:nvPr/>
        </p:nvSpPr>
        <p:spPr>
          <a:xfrm>
            <a:off x="7909560" y="2889503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2891332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2862072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3D 탐색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GPU 결과 표시와 Fit·Orbit·Pan·Reset</a:t>
            </a:r>
          </a:p>
        </p:txBody>
      </p:sp>
      <p:sp>
        <p:nvSpPr>
          <p:cNvPr id="50" name="Oval 49"/>
          <p:cNvSpPr/>
          <p:nvPr/>
        </p:nvSpPr>
        <p:spPr>
          <a:xfrm>
            <a:off x="7909560" y="3396996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9560" y="3398824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3369564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표현 설정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Auto/Manual 범위·컬러맵·범례 설정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System Monitor  |  Co-simulation 신호 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06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Co-simulation에 참여하는 Controller·Product FMU의 주요 신호와 실내기 운전 상태를 실시간으로 감시합니다.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4_System 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252728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252728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Controller 입력과 Product FMU 응답을 한 화면에서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FMU 신호 누락이나 비정상 값의 조기 발견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여러 실내기의 운전상태를 동일 시점에서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시스템 동작과 유동·열환경 결과의 원인관계 추적 지원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513832"/>
            <a:ext cx="4050791" cy="566928"/>
          </a:xfrm>
          <a:prstGeom prst="roundRect">
            <a:avLst>
              <a:gd name="adj" fmla="val 6000"/>
            </a:avLst>
          </a:prstGeom>
          <a:solidFill>
            <a:srgbClr val="FFF8E7"/>
          </a:solidFill>
          <a:ln w="10160">
            <a:solidFill>
              <a:srgbClr val="EB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5586984"/>
            <a:ext cx="2011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B8434E"/>
                </a:solidFill>
                <a:latin typeface="맑은 고딕"/>
              </a:rPr>
              <a:t>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586984"/>
            <a:ext cx="357530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B8434E"/>
                </a:solidFill>
                <a:latin typeface="맑은 고딕"/>
              </a:rPr>
              <a:t>Live는 해당 신호를 현재 읽을 수 있다는 의미입니다.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UX04</a:t>
            </a:r>
          </a:p>
        </p:txBody>
      </p:sp>
      <p:sp>
        <p:nvSpPr>
          <p:cNvPr id="29" name="Oval 28"/>
          <p:cNvSpPr/>
          <p:nvPr/>
        </p:nvSpPr>
        <p:spPr>
          <a:xfrm>
            <a:off x="1101852" y="2089403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3856" y="2121408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" y="2123236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3653028" y="2089403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85032" y="2121408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5032" y="2123236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6204204" y="2089403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36208" y="2121408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2123236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2729484" y="4722876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61488" y="4754880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4756708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6076188" y="4722876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08192" y="4754880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4756708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1874519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1876348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1847088"/>
            <a:ext cx="3383280" cy="38770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2838"/>
                </a:solidFill>
                <a:latin typeface="맑은 고딕"/>
              </a:rPr>
              <a:t>액추에이터</a:t>
            </a:r>
            <a:r>
              <a:rPr sz="780">
                <a:solidFill>
                  <a:srgbClr val="526A7B"/>
                </a:solidFill>
                <a:latin typeface="맑은 고딕"/>
              </a:rPr>
              <a:t>  —  압축기·실외팬·EEV·사방밸브</a:t>
            </a:r>
          </a:p>
        </p:txBody>
      </p:sp>
      <p:sp>
        <p:nvSpPr>
          <p:cNvPr id="47" name="Oval 46"/>
          <p:cNvSpPr/>
          <p:nvPr/>
        </p:nvSpPr>
        <p:spPr>
          <a:xfrm>
            <a:off x="7909560" y="2280513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2282342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2253081"/>
            <a:ext cx="3383280" cy="38770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2838"/>
                </a:solidFill>
                <a:latin typeface="맑은 고딕"/>
              </a:rPr>
              <a:t>센서</a:t>
            </a:r>
            <a:r>
              <a:rPr sz="780">
                <a:solidFill>
                  <a:srgbClr val="526A7B"/>
                </a:solidFill>
                <a:latin typeface="맑은 고딕"/>
              </a:rPr>
              <a:t>  —  온도·압력·유량·습도 신호</a:t>
            </a:r>
          </a:p>
        </p:txBody>
      </p:sp>
      <p:sp>
        <p:nvSpPr>
          <p:cNvPr id="50" name="Oval 49"/>
          <p:cNvSpPr/>
          <p:nvPr/>
        </p:nvSpPr>
        <p:spPr>
          <a:xfrm>
            <a:off x="7909560" y="2686507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9560" y="2688336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2659075"/>
            <a:ext cx="3383280" cy="38770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2838"/>
                </a:solidFill>
                <a:latin typeface="맑은 고딕"/>
              </a:rPr>
              <a:t>전장 정보</a:t>
            </a:r>
            <a:r>
              <a:rPr sz="780">
                <a:solidFill>
                  <a:srgbClr val="526A7B"/>
                </a:solidFill>
                <a:latin typeface="맑은 고딕"/>
              </a:rPr>
              <a:t>  —  Controller FMU 전류·전압·주파수</a:t>
            </a:r>
          </a:p>
        </p:txBody>
      </p:sp>
      <p:sp>
        <p:nvSpPr>
          <p:cNvPr id="53" name="Oval 52"/>
          <p:cNvSpPr/>
          <p:nvPr/>
        </p:nvSpPr>
        <p:spPr>
          <a:xfrm>
            <a:off x="7909560" y="3092500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3094329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3065068"/>
            <a:ext cx="3383280" cy="38770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2838"/>
                </a:solidFill>
                <a:latin typeface="맑은 고딕"/>
              </a:rPr>
              <a:t>시계열 그래프</a:t>
            </a:r>
            <a:r>
              <a:rPr sz="780">
                <a:solidFill>
                  <a:srgbClr val="526A7B"/>
                </a:solidFill>
                <a:latin typeface="맑은 고딕"/>
              </a:rPr>
              <a:t>  —  Hz·Superheat·Subcooling·IDU1</a:t>
            </a:r>
          </a:p>
        </p:txBody>
      </p:sp>
      <p:sp>
        <p:nvSpPr>
          <p:cNvPr id="56" name="Oval 55"/>
          <p:cNvSpPr/>
          <p:nvPr/>
        </p:nvSpPr>
        <p:spPr>
          <a:xfrm>
            <a:off x="7909560" y="3498494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3500323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3471062"/>
            <a:ext cx="3383280" cy="38770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2838"/>
                </a:solidFill>
                <a:latin typeface="맑은 고딕"/>
              </a:rPr>
              <a:t>실내기 정보</a:t>
            </a:r>
            <a:r>
              <a:rPr sz="780">
                <a:solidFill>
                  <a:srgbClr val="526A7B"/>
                </a:solidFill>
                <a:latin typeface="맑은 고딕"/>
              </a:rPr>
              <a:t>  —  R1–R5 운전상태·온습도·풍량·Fan·EEV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509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7FE8"/>
                </a:solidFill>
                <a:latin typeface="맑은 고딕"/>
              </a:rPr>
              <a:t>UX05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566928" cy="41148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"/>
            <a:ext cx="89611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32838"/>
                </a:solidFill>
                <a:latin typeface="맑은 고딕"/>
              </a:rPr>
              <a:t>Time History  |  FMU I/O 시계열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237744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C8090"/>
                </a:solidFill>
                <a:latin typeface="맑은 고딕"/>
              </a:rPr>
              <a:t>07 /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11365992" cy="393192"/>
          </a:xfrm>
          <a:prstGeom prst="roundRect">
            <a:avLst>
              <a:gd name="adj" fmla="val 6000"/>
            </a:avLst>
          </a:prstGeom>
          <a:solidFill>
            <a:srgbClr val="EDF6FE"/>
          </a:solidFill>
          <a:ln w="10160">
            <a:solidFill>
              <a:srgbClr val="CB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28115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87FE8"/>
                </a:solidFill>
                <a:latin typeface="맑은 고딕"/>
              </a:rPr>
              <a:t>핵심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909828"/>
            <a:ext cx="10040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32838"/>
                </a:solidFill>
                <a:latin typeface="맑은 고딕"/>
              </a:rPr>
              <a:t>FMU 입력·출력 신호를 사용자가 선택하여 시간에 따른 변화와 신호 간 관계를 분석합니다.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" y="1394460"/>
            <a:ext cx="7123176" cy="3995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9C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X05_Time 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6464"/>
            <a:ext cx="7059168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6679" y="1426464"/>
            <a:ext cx="4050791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426464"/>
            <a:ext cx="50292" cy="2560320"/>
          </a:xfrm>
          <a:prstGeom prst="rect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536192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87FE8"/>
                </a:solidFill>
                <a:latin typeface="맑은 고딕"/>
              </a:rPr>
              <a:t>번호별 주요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847088"/>
            <a:ext cx="3703320" cy="20665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26679" y="4160520"/>
            <a:ext cx="4050791" cy="1252728"/>
          </a:xfrm>
          <a:prstGeom prst="roundRect">
            <a:avLst>
              <a:gd name="adj" fmla="val 6000"/>
            </a:avLst>
          </a:prstGeom>
          <a:solidFill>
            <a:srgbClr val="EAF8F2"/>
          </a:solidFill>
          <a:ln w="10160"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4160520"/>
            <a:ext cx="50292" cy="1252728"/>
          </a:xfrm>
          <a:prstGeom prst="rect">
            <a:avLst/>
          </a:prstGeom>
          <a:solidFill>
            <a:srgbClr val="139B70"/>
          </a:solidFill>
          <a:ln>
            <a:solidFill>
              <a:srgbClr val="13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270248"/>
            <a:ext cx="3721607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39B70"/>
                </a:solidFill>
                <a:latin typeface="맑은 고딕"/>
              </a:rPr>
              <a:t>사용자 어드벤티지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59" y="4581144"/>
            <a:ext cx="37033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제어 입력과 제품 응답의 변화 추세·시간지연 분석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서로 다른 단위의 신호를 동일한 시간축에서 비교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목적별 그래프 분리로 복잡한 신호를 체계적으로 관리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1">
                <a:solidFill>
                  <a:srgbClr val="139B70"/>
                </a:solidFill>
                <a:latin typeface="맑은 고딕"/>
              </a:rPr>
              <a:t>• </a:t>
            </a:r>
            <a:r>
              <a:rPr sz="969">
                <a:solidFill>
                  <a:srgbClr val="334A5B"/>
                </a:solidFill>
                <a:latin typeface="맑은 고딕"/>
              </a:rPr>
              <a:t>필요한 데이터만 CSV로 추출하여 후처리·보고서에 활용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513832"/>
            <a:ext cx="4050791" cy="566928"/>
          </a:xfrm>
          <a:prstGeom prst="roundRect">
            <a:avLst>
              <a:gd name="adj" fmla="val 6000"/>
            </a:avLst>
          </a:prstGeom>
          <a:solidFill>
            <a:srgbClr val="FFF8E7"/>
          </a:solidFill>
          <a:ln w="10160">
            <a:solidFill>
              <a:srgbClr val="EBD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5586984"/>
            <a:ext cx="20116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B8434E"/>
                </a:solidFill>
                <a:latin typeface="맑은 고딕"/>
              </a:rPr>
              <a:t>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586984"/>
            <a:ext cx="3575303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B8434E"/>
                </a:solidFill>
                <a:latin typeface="맑은 고딕"/>
              </a:rPr>
              <a:t>현재 주요 분석 대상은 FMU Input/Output 신호입니다.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321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C8090"/>
                </a:solidFill>
                <a:latin typeface="맑은 고딕"/>
              </a:rPr>
              <a:t>UX 구성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532120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C8090"/>
                </a:solidFill>
                <a:latin typeface="맑은 고딕"/>
              </a:rPr>
              <a:t>실제 런타임 캡처를 기반으로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519672"/>
            <a:ext cx="11365992" cy="10972"/>
          </a:xfrm>
          <a:prstGeom prst="rect">
            <a:avLst/>
          </a:prstGeom>
          <a:solidFill>
            <a:srgbClr val="D5E1E8"/>
          </a:solidFill>
          <a:ln>
            <a:solidFill>
              <a:srgbClr val="D5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C8090"/>
                </a:solidFill>
                <a:latin typeface="맑은 고딕"/>
              </a:rPr>
              <a:t>LBM/FMU SIMULATION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83680"/>
            <a:ext cx="345643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C8090"/>
                </a:solidFill>
                <a:latin typeface="맑은 고딕"/>
              </a:rPr>
              <a:t>UX05</a:t>
            </a:r>
          </a:p>
        </p:txBody>
      </p:sp>
      <p:sp>
        <p:nvSpPr>
          <p:cNvPr id="29" name="Oval 28"/>
          <p:cNvSpPr/>
          <p:nvPr/>
        </p:nvSpPr>
        <p:spPr>
          <a:xfrm>
            <a:off x="1284732" y="2729484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16736" y="2761488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16736" y="2763316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3214115" y="1668780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46120" y="1700784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1702612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5390388" y="3076956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22392" y="3108960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2392" y="3110788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6679692" y="1668780"/>
            <a:ext cx="356616" cy="356616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711696" y="1700784"/>
            <a:ext cx="292608" cy="292608"/>
          </a:xfrm>
          <a:prstGeom prst="ellipse">
            <a:avLst/>
          </a:prstGeom>
          <a:solidFill>
            <a:srgbClr val="087FE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1702612"/>
            <a:ext cx="292608" cy="290779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7909560" y="1874519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1876348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1847088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변수 선택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FMU Input/Output 검색·필터링·선택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2382012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2383840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2354580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그래프 구성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3개 그래프에 각각 최대 12개 신호</a:t>
            </a:r>
          </a:p>
        </p:txBody>
      </p:sp>
      <p:sp>
        <p:nvSpPr>
          <p:cNvPr id="47" name="Oval 46"/>
          <p:cNvSpPr/>
          <p:nvPr/>
        </p:nvSpPr>
        <p:spPr>
          <a:xfrm>
            <a:off x="7909560" y="2889503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2891332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2862072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시계열 분석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단위별 Y축·Hover·Zoom·Pan·Reset</a:t>
            </a:r>
          </a:p>
        </p:txBody>
      </p:sp>
      <p:sp>
        <p:nvSpPr>
          <p:cNvPr id="50" name="Oval 49"/>
          <p:cNvSpPr/>
          <p:nvPr/>
        </p:nvSpPr>
        <p:spPr>
          <a:xfrm>
            <a:off x="7909560" y="3396996"/>
            <a:ext cx="228600" cy="228600"/>
          </a:xfrm>
          <a:prstGeom prst="ellipse">
            <a:avLst/>
          </a:prstGeom>
          <a:solidFill>
            <a:srgbClr val="087FE8"/>
          </a:solidFill>
          <a:ln>
            <a:solidFill>
              <a:srgbClr val="08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9560" y="3398824"/>
            <a:ext cx="228600" cy="226771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3369564"/>
            <a:ext cx="3383280" cy="4892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32838"/>
                </a:solidFill>
                <a:latin typeface="맑은 고딕"/>
              </a:rPr>
              <a:t>CSV 저장</a:t>
            </a:r>
            <a:r>
              <a:rPr sz="840">
                <a:solidFill>
                  <a:srgbClr val="526A7B"/>
                </a:solidFill>
                <a:latin typeface="맑은 고딕"/>
              </a:rPr>
              <a:t>  —  Case Tag가 포함된 선택 그래프 데이터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LBM/FMU Simulation Platform 대시보드 UX 기능 소개</dc:title>
  <dc:subject>UX01–UX05 핵심 목적, 세부 기능, 사용자 어드벤티지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