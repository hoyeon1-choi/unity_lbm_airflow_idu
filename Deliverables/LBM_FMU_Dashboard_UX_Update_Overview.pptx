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D"/>
          </a:solidFill>
          <a:ln w="1270">
            <a:solidFill>
              <a:srgbClr val="0713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804672" cy="31089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B9F3"/>
                </a:solidFill>
                <a:latin typeface="맑은 고딕"/>
              </a:rPr>
              <a:t>UX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03504"/>
            <a:ext cx="530352" cy="41148"/>
          </a:xfrm>
          <a:prstGeom prst="rect">
            <a:avLst/>
          </a:prstGeom>
          <a:solidFill>
            <a:srgbClr val="198DF5"/>
          </a:solidFill>
          <a:ln w="1270">
            <a:solidFill>
              <a:srgbClr val="198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01168"/>
            <a:ext cx="8001000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5F9FE"/>
                </a:solidFill>
                <a:latin typeface="맑은 고딕"/>
              </a:rPr>
              <a:t>Home  |  한 화면에서 보는 실시간 운영 현황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23960" y="265176"/>
            <a:ext cx="2880360" cy="30175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1A8BA"/>
                </a:solidFill>
                <a:latin typeface="맑은 고딕"/>
              </a:rPr>
              <a:t>운영자 중심의 시뮬레이션 대시보드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" y="722376"/>
            <a:ext cx="11365992" cy="0"/>
          </a:xfrm>
          <a:prstGeom prst="line">
            <a:avLst/>
          </a:prstGeom>
          <a:ln w="12700">
            <a:solidFill>
              <a:srgbClr val="23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84048" y="914400"/>
            <a:ext cx="7690104" cy="4315968"/>
          </a:xfrm>
          <a:prstGeom prst="roundRect">
            <a:avLst>
              <a:gd name="adj" fmla="val 8000"/>
            </a:avLst>
          </a:prstGeom>
          <a:solidFill>
            <a:srgbClr val="0D1D2A"/>
          </a:solidFill>
          <a:ln w="10160">
            <a:solidFill>
              <a:srgbClr val="23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X0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41832"/>
            <a:ext cx="7635240" cy="4261104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694944" y="1581912"/>
            <a:ext cx="283464" cy="283464"/>
          </a:xfrm>
          <a:prstGeom prst="ellipse">
            <a:avLst/>
          </a:prstGeom>
          <a:solidFill>
            <a:srgbClr val="198DF5"/>
          </a:solidFill>
          <a:ln w="10160">
            <a:solidFill>
              <a:srgbClr val="F5F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583740"/>
            <a:ext cx="283464" cy="26517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F9FE"/>
                </a:solidFill>
                <a:latin typeface="맑은 고딕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3355848"/>
            <a:ext cx="283464" cy="283464"/>
          </a:xfrm>
          <a:prstGeom prst="ellipse">
            <a:avLst/>
          </a:prstGeom>
          <a:solidFill>
            <a:srgbClr val="198DF5"/>
          </a:solidFill>
          <a:ln w="10160">
            <a:solidFill>
              <a:srgbClr val="F5F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357676"/>
            <a:ext cx="283464" cy="26517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F9FE"/>
                </a:solidFill>
                <a:latin typeface="맑은 고딕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5468112" y="2496312"/>
            <a:ext cx="283464" cy="283464"/>
          </a:xfrm>
          <a:prstGeom prst="ellipse">
            <a:avLst/>
          </a:prstGeom>
          <a:solidFill>
            <a:srgbClr val="198DF5"/>
          </a:solidFill>
          <a:ln w="10160">
            <a:solidFill>
              <a:srgbClr val="F5F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68112" y="2498140"/>
            <a:ext cx="283464" cy="26517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F9FE"/>
                </a:solidFill>
                <a:latin typeface="맑은 고딕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5340096" y="4599432"/>
            <a:ext cx="283464" cy="283464"/>
          </a:xfrm>
          <a:prstGeom prst="ellipse">
            <a:avLst/>
          </a:prstGeom>
          <a:solidFill>
            <a:srgbClr val="198DF5"/>
          </a:solidFill>
          <a:ln w="10160">
            <a:solidFill>
              <a:srgbClr val="F5F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0096" y="4601260"/>
            <a:ext cx="283464" cy="26517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F9FE"/>
                </a:solidFill>
                <a:latin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941832"/>
            <a:ext cx="2011680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21B9F3"/>
                </a:solidFill>
                <a:latin typeface="맑은 고딕"/>
              </a:rPr>
              <a:t>CORE EXPERIENCE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1170432"/>
            <a:ext cx="3429000" cy="6858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9FE"/>
                </a:solidFill>
                <a:latin typeface="맑은 고딕"/>
              </a:rPr>
              <a:t>실행 상태를 판단하고
즉시 조작하는 통합 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02752" y="1993392"/>
            <a:ext cx="3429000" cy="850392"/>
          </a:xfrm>
          <a:prstGeom prst="roundRect">
            <a:avLst>
              <a:gd name="adj" fmla="val 8000"/>
            </a:avLst>
          </a:prstGeom>
          <a:solidFill>
            <a:srgbClr val="0D1D2A"/>
          </a:solidFill>
          <a:ln w="10160">
            <a:solidFill>
              <a:srgbClr val="23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02752" y="1993392"/>
            <a:ext cx="50292" cy="850392"/>
          </a:xfrm>
          <a:prstGeom prst="rect">
            <a:avLst/>
          </a:prstGeom>
          <a:solidFill>
            <a:srgbClr val="198DF5"/>
          </a:solidFill>
          <a:ln w="10160">
            <a:solidFill>
              <a:srgbClr val="198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67344" y="2167128"/>
            <a:ext cx="310896" cy="310896"/>
          </a:xfrm>
          <a:prstGeom prst="ellipse">
            <a:avLst/>
          </a:prstGeom>
          <a:solidFill>
            <a:srgbClr val="198DF5"/>
          </a:solidFill>
          <a:ln>
            <a:solidFill>
              <a:srgbClr val="198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67344" y="2167128"/>
            <a:ext cx="310896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F9FE"/>
                </a:solidFill>
                <a:latin typeface="맑은 고딕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8824" y="2103120"/>
            <a:ext cx="269748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F5F9FE"/>
                </a:solidFill>
                <a:latin typeface="맑은 고딕"/>
              </a:rPr>
              <a:t>핵심 KPI 즉시 확인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8824" y="2377440"/>
            <a:ext cx="2697480" cy="35661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91A8BA"/>
                </a:solidFill>
                <a:latin typeface="맑은 고딕"/>
              </a:rPr>
              <a:t>실내온도·온도차·최대속도·질량오차·GPU를 상단에 집중 배치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02752" y="2944368"/>
            <a:ext cx="3429000" cy="850392"/>
          </a:xfrm>
          <a:prstGeom prst="roundRect">
            <a:avLst>
              <a:gd name="adj" fmla="val 8000"/>
            </a:avLst>
          </a:prstGeom>
          <a:solidFill>
            <a:srgbClr val="0D1D2A"/>
          </a:solidFill>
          <a:ln w="10160">
            <a:solidFill>
              <a:srgbClr val="23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02752" y="2944368"/>
            <a:ext cx="50292" cy="850392"/>
          </a:xfrm>
          <a:prstGeom prst="rect">
            <a:avLst/>
          </a:prstGeom>
          <a:solidFill>
            <a:srgbClr val="21B9F3"/>
          </a:solidFill>
          <a:ln w="10160">
            <a:solidFill>
              <a:srgbClr val="21B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467344" y="3118104"/>
            <a:ext cx="310896" cy="310896"/>
          </a:xfrm>
          <a:prstGeom prst="ellipse">
            <a:avLst/>
          </a:prstGeom>
          <a:solidFill>
            <a:srgbClr val="21B9F3"/>
          </a:solidFill>
          <a:ln>
            <a:solidFill>
              <a:srgbClr val="21B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67344" y="3118104"/>
            <a:ext cx="310896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F9FE"/>
                </a:solidFill>
                <a:latin typeface="맑은 고딕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3054096"/>
            <a:ext cx="269748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F5F9FE"/>
                </a:solidFill>
                <a:latin typeface="맑은 고딕"/>
              </a:rPr>
              <a:t>3D 결과와 제어를 동시 연결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78824" y="3328416"/>
            <a:ext cx="2697480" cy="35661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91A8BA"/>
                </a:solidFill>
                <a:latin typeface="맑은 고딕"/>
              </a:rPr>
              <a:t>온도 필드를 보며 IDU 전원·모드·목표온도·풍량을 한 화면에서 조정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02752" y="3895344"/>
            <a:ext cx="3429000" cy="850392"/>
          </a:xfrm>
          <a:prstGeom prst="roundRect">
            <a:avLst>
              <a:gd name="adj" fmla="val 8000"/>
            </a:avLst>
          </a:prstGeom>
          <a:solidFill>
            <a:srgbClr val="0D1D2A"/>
          </a:solidFill>
          <a:ln w="10160">
            <a:solidFill>
              <a:srgbClr val="23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02752" y="3895344"/>
            <a:ext cx="50292" cy="850392"/>
          </a:xfrm>
          <a:prstGeom prst="rect">
            <a:avLst/>
          </a:prstGeom>
          <a:solidFill>
            <a:srgbClr val="26D995"/>
          </a:solidFill>
          <a:ln w="10160">
            <a:solidFill>
              <a:srgbClr val="26D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467344" y="4069080"/>
            <a:ext cx="310896" cy="310896"/>
          </a:xfrm>
          <a:prstGeom prst="ellipse">
            <a:avLst/>
          </a:prstGeom>
          <a:solidFill>
            <a:srgbClr val="26D995"/>
          </a:solidFill>
          <a:ln>
            <a:solidFill>
              <a:srgbClr val="26D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67344" y="4069080"/>
            <a:ext cx="310896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F9FE"/>
                </a:solidFill>
                <a:latin typeface="맑은 고딕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78824" y="4005072"/>
            <a:ext cx="269748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F5F9FE"/>
                </a:solidFill>
                <a:latin typeface="맑은 고딕"/>
              </a:rPr>
              <a:t>트렌드와 완료 상태 확인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78824" y="4279392"/>
            <a:ext cx="2697480" cy="35661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91A8BA"/>
                </a:solidFill>
                <a:latin typeface="맑은 고딕"/>
              </a:rPr>
              <a:t>온도·GPU 추이와 시간·격자·FPS·메모리를 함께 표시해 운영 건강성을 판단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02752" y="4919472"/>
            <a:ext cx="3429000" cy="521207"/>
          </a:xfrm>
          <a:prstGeom prst="roundRect">
            <a:avLst>
              <a:gd name="adj" fmla="val 8000"/>
            </a:avLst>
          </a:prstGeom>
          <a:solidFill>
            <a:srgbClr val="112838"/>
          </a:solidFill>
          <a:ln w="10160">
            <a:solidFill>
              <a:srgbClr val="23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85632" y="5029200"/>
            <a:ext cx="3054096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1B9F3"/>
                </a:solidFill>
                <a:latin typeface="맑은 고딕"/>
              </a:rPr>
              <a:t>결과  </a:t>
            </a:r>
            <a:r>
              <a:rPr sz="1000" b="1">
                <a:solidFill>
                  <a:srgbClr val="D9E7F2"/>
                </a:solidFill>
                <a:latin typeface="맑은 고딕"/>
              </a:rPr>
              <a:t>설정–실행–결과 확인의 전환 비용 최소화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493776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91A8BA"/>
                </a:solidFill>
                <a:latin typeface="맑은 고딕"/>
              </a:rPr>
              <a:t>LBM/FMU SIMULATION PLATFORM  |  UX UPDATE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46320" y="6565392"/>
            <a:ext cx="475488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1A8BA"/>
                </a:solidFill>
                <a:latin typeface="맑은 고딕"/>
              </a:rPr>
              <a:t>UX01  HOME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61320" y="6565392"/>
            <a:ext cx="118872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91A8BA"/>
                </a:solidFill>
                <a:latin typeface="맑은 고딕"/>
              </a:rPr>
              <a:t>01 /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D"/>
          </a:solidFill>
          <a:ln w="1270">
            <a:solidFill>
              <a:srgbClr val="0713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804672" cy="31089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B9F3"/>
                </a:solidFill>
                <a:latin typeface="맑은 고딕"/>
              </a:rPr>
              <a:t>UX 02-1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03504"/>
            <a:ext cx="530352" cy="41148"/>
          </a:xfrm>
          <a:prstGeom prst="rect">
            <a:avLst/>
          </a:prstGeom>
          <a:solidFill>
            <a:srgbClr val="198DF5"/>
          </a:solidFill>
          <a:ln w="1270">
            <a:solidFill>
              <a:srgbClr val="198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01168"/>
            <a:ext cx="8001000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5F9FE"/>
                </a:solidFill>
                <a:latin typeface="맑은 고딕"/>
              </a:rPr>
              <a:t>Simulation Setup  |  Case &amp;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23960" y="265176"/>
            <a:ext cx="2880360" cy="30175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1A8BA"/>
                </a:solidFill>
                <a:latin typeface="맑은 고딕"/>
              </a:rPr>
              <a:t>대상과 조건을 실행 전에 명확히 고정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" y="722376"/>
            <a:ext cx="11365992" cy="0"/>
          </a:xfrm>
          <a:prstGeom prst="line">
            <a:avLst/>
          </a:prstGeom>
          <a:ln w="12700">
            <a:solidFill>
              <a:srgbClr val="23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84048" y="914400"/>
            <a:ext cx="5577840" cy="3136392"/>
          </a:xfrm>
          <a:prstGeom prst="roundRect">
            <a:avLst>
              <a:gd name="adj" fmla="val 8000"/>
            </a:avLst>
          </a:prstGeom>
          <a:solidFill>
            <a:srgbClr val="0D1D2A"/>
          </a:solidFill>
          <a:ln w="10160">
            <a:solidFill>
              <a:srgbClr val="23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X02_Simulation Setup_F1_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41832"/>
            <a:ext cx="5522976" cy="308152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21208" y="1051560"/>
            <a:ext cx="932688" cy="274320"/>
          </a:xfrm>
          <a:prstGeom prst="roundRect">
            <a:avLst>
              <a:gd name="adj" fmla="val 8000"/>
            </a:avLst>
          </a:prstGeom>
          <a:solidFill>
            <a:srgbClr val="198DF5"/>
          </a:solidFill>
          <a:ln w="10160">
            <a:solidFill>
              <a:srgbClr val="198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" y="1060704"/>
            <a:ext cx="896112" cy="2286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5F9FE"/>
                </a:solidFill>
                <a:latin typeface="맑은 고딕"/>
              </a:rPr>
              <a:t>F1  CASE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914400"/>
            <a:ext cx="5577840" cy="3136392"/>
          </a:xfrm>
          <a:prstGeom prst="roundRect">
            <a:avLst>
              <a:gd name="adj" fmla="val 8000"/>
            </a:avLst>
          </a:prstGeom>
          <a:solidFill>
            <a:srgbClr val="0D1D2A"/>
          </a:solidFill>
          <a:ln w="10160">
            <a:solidFill>
              <a:srgbClr val="23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UX02_Simulation Setup_F2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941832"/>
            <a:ext cx="5522976" cy="308152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355080" y="1051560"/>
            <a:ext cx="932688" cy="274320"/>
          </a:xfrm>
          <a:prstGeom prst="roundRect">
            <a:avLst>
              <a:gd name="adj" fmla="val 8000"/>
            </a:avLst>
          </a:prstGeom>
          <a:solidFill>
            <a:srgbClr val="198DF5"/>
          </a:solidFill>
          <a:ln w="10160">
            <a:solidFill>
              <a:srgbClr val="198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1060704"/>
            <a:ext cx="896112" cy="2286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5F9FE"/>
                </a:solidFill>
                <a:latin typeface="맑은 고딕"/>
              </a:rPr>
              <a:t>F2 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24528"/>
            <a:ext cx="5276088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21B9F3"/>
                </a:solidFill>
                <a:latin typeface="맑은 고딕"/>
              </a:rPr>
              <a:t>CASE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407408"/>
            <a:ext cx="5276088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9FE"/>
                </a:solidFill>
                <a:latin typeface="맑은 고딕"/>
              </a:rPr>
              <a:t>빌트인 Case 선택과 실행 제어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700016"/>
            <a:ext cx="5276088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91A8BA"/>
                </a:solidFill>
                <a:latin typeface="맑은 고딕"/>
              </a:rPr>
              <a:t>A0–B6 Case의 주요 설정을 비교하고, 선택·복제·신규 생성 후 새 실행으로 연결합니다.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4224528"/>
            <a:ext cx="5276088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21B9F3"/>
                </a:solidFill>
                <a:latin typeface="맑은 고딕"/>
              </a:rPr>
              <a:t>MODEL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4407408"/>
            <a:ext cx="5276088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9FE"/>
                </a:solidFill>
                <a:latin typeface="맑은 고딕"/>
              </a:rPr>
              <a:t>Unity Scene 기반 모델 확인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700016"/>
            <a:ext cx="5276088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91A8BA"/>
                </a:solidFill>
                <a:latin typeface="맑은 고딕"/>
              </a:rPr>
              <a:t>로드된 형상, Domain 크기·중심·격자를 한 곳에서 확인해 잘못된 시뮬레이션 대상 선택을 예방합니다.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184648"/>
            <a:ext cx="11109960" cy="384048"/>
          </a:xfrm>
          <a:prstGeom prst="roundRect">
            <a:avLst>
              <a:gd name="adj" fmla="val 8000"/>
            </a:avLst>
          </a:prstGeom>
          <a:solidFill>
            <a:srgbClr val="112838"/>
          </a:solidFill>
          <a:ln w="10160">
            <a:solidFill>
              <a:srgbClr val="23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257800"/>
            <a:ext cx="960120" cy="2103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1A8BA"/>
                </a:solidFill>
                <a:latin typeface="맑은 고딕"/>
              </a:rPr>
              <a:t>사용자 흐름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56231" y="5257800"/>
            <a:ext cx="1051560" cy="2103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F5F9FE"/>
                </a:solidFill>
                <a:latin typeface="맑은 고딕"/>
              </a:rPr>
              <a:t>Case 선택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5239512"/>
            <a:ext cx="274320" cy="2103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1B9F3"/>
                </a:solidFill>
                <a:latin typeface="맑은 고딕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10128" y="5257800"/>
            <a:ext cx="1051560" cy="2103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F5F9FE"/>
                </a:solidFill>
                <a:latin typeface="맑은 고딕"/>
              </a:rPr>
              <a:t>Model 확인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25696" y="5239512"/>
            <a:ext cx="274320" cy="2103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1B9F3"/>
                </a:solidFill>
                <a:latin typeface="맑은 고딕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64024" y="5257800"/>
            <a:ext cx="1325880" cy="2103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F5F9FE"/>
                </a:solidFill>
                <a:latin typeface="맑은 고딕"/>
              </a:rPr>
              <a:t>설정 스테이징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44768" y="5239512"/>
            <a:ext cx="274320" cy="2103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1B9F3"/>
                </a:solidFill>
                <a:latin typeface="맑은 고딕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257800"/>
            <a:ext cx="1280160" cy="2103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F5F9FE"/>
                </a:solidFill>
                <a:latin typeface="맑은 고딕"/>
              </a:rPr>
              <a:t>Run 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5257800"/>
            <a:ext cx="3291840" cy="2103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26D995"/>
                </a:solidFill>
                <a:latin typeface="맑은 고딕"/>
              </a:rPr>
              <a:t>핵심 효과: Case 정보와 실제 Scene 모델의 불일치를 실행 전에 제거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852160"/>
            <a:ext cx="1773936" cy="384048"/>
          </a:xfrm>
          <a:prstGeom prst="roundRect">
            <a:avLst>
              <a:gd name="adj" fmla="val 8000"/>
            </a:avLst>
          </a:prstGeom>
          <a:solidFill>
            <a:srgbClr val="198DF5"/>
          </a:solidFill>
          <a:ln w="10160">
            <a:solidFill>
              <a:srgbClr val="198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902452"/>
            <a:ext cx="1773936" cy="24688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F5F9FE"/>
                </a:solidFill>
                <a:latin typeface="맑은 고딕"/>
              </a:rPr>
              <a:t>1  Case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368296" y="5852160"/>
            <a:ext cx="1773936" cy="384048"/>
          </a:xfrm>
          <a:prstGeom prst="roundRect">
            <a:avLst>
              <a:gd name="adj" fmla="val 8000"/>
            </a:avLst>
          </a:prstGeom>
          <a:solidFill>
            <a:srgbClr val="198DF5"/>
          </a:solidFill>
          <a:ln w="10160">
            <a:solidFill>
              <a:srgbClr val="198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68296" y="5902452"/>
            <a:ext cx="1773936" cy="24688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F5F9FE"/>
                </a:solidFill>
                <a:latin typeface="맑은 고딕"/>
              </a:rPr>
              <a:t>2  Model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33672" y="5852160"/>
            <a:ext cx="1773936" cy="384048"/>
          </a:xfrm>
          <a:prstGeom prst="roundRect">
            <a:avLst>
              <a:gd name="adj" fmla="val 8000"/>
            </a:avLst>
          </a:prstGeom>
          <a:solidFill>
            <a:srgbClr val="112838"/>
          </a:solidFill>
          <a:ln w="10160">
            <a:solidFill>
              <a:srgbClr val="11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33672" y="5902452"/>
            <a:ext cx="1773936" cy="24688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91A8BA"/>
                </a:solidFill>
                <a:latin typeface="맑은 고딕"/>
              </a:rPr>
              <a:t>3  Mesh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99048" y="5852160"/>
            <a:ext cx="1773936" cy="384048"/>
          </a:xfrm>
          <a:prstGeom prst="roundRect">
            <a:avLst>
              <a:gd name="adj" fmla="val 8000"/>
            </a:avLst>
          </a:prstGeom>
          <a:solidFill>
            <a:srgbClr val="112838"/>
          </a:solidFill>
          <a:ln w="10160">
            <a:solidFill>
              <a:srgbClr val="11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8" y="5902452"/>
            <a:ext cx="1773936" cy="24688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91A8BA"/>
                </a:solidFill>
                <a:latin typeface="맑은 고딕"/>
              </a:rPr>
              <a:t>4  Physics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64424" y="5852160"/>
            <a:ext cx="1773936" cy="384048"/>
          </a:xfrm>
          <a:prstGeom prst="roundRect">
            <a:avLst>
              <a:gd name="adj" fmla="val 8000"/>
            </a:avLst>
          </a:prstGeom>
          <a:solidFill>
            <a:srgbClr val="112838"/>
          </a:solidFill>
          <a:ln w="10160">
            <a:solidFill>
              <a:srgbClr val="11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64424" y="5902452"/>
            <a:ext cx="1773936" cy="24688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91A8BA"/>
                </a:solidFill>
                <a:latin typeface="맑은 고딕"/>
              </a:rPr>
              <a:t>5  Boundary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829800" y="5852160"/>
            <a:ext cx="1773936" cy="384048"/>
          </a:xfrm>
          <a:prstGeom prst="roundRect">
            <a:avLst>
              <a:gd name="adj" fmla="val 8000"/>
            </a:avLst>
          </a:prstGeom>
          <a:solidFill>
            <a:srgbClr val="112838"/>
          </a:solidFill>
          <a:ln w="10160">
            <a:solidFill>
              <a:srgbClr val="11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29800" y="5902452"/>
            <a:ext cx="1773936" cy="24688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91A8BA"/>
                </a:solidFill>
                <a:latin typeface="맑은 고딕"/>
              </a:rPr>
              <a:t>6  Run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6565392"/>
            <a:ext cx="493776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91A8BA"/>
                </a:solidFill>
                <a:latin typeface="맑은 고딕"/>
              </a:rPr>
              <a:t>LBM/FMU SIMULATION PLATFORM  |  UX UPDATE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46320" y="6565392"/>
            <a:ext cx="475488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1A8BA"/>
                </a:solidFill>
                <a:latin typeface="맑은 고딕"/>
              </a:rPr>
              <a:t>UX02  SIMULATION SETUP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61320" y="6565392"/>
            <a:ext cx="118872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91A8BA"/>
                </a:solidFill>
                <a:latin typeface="맑은 고딕"/>
              </a:rP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D"/>
          </a:solidFill>
          <a:ln w="1270">
            <a:solidFill>
              <a:srgbClr val="0713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804672" cy="31089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B9F3"/>
                </a:solidFill>
                <a:latin typeface="맑은 고딕"/>
              </a:rPr>
              <a:t>UX 02-2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03504"/>
            <a:ext cx="530352" cy="41148"/>
          </a:xfrm>
          <a:prstGeom prst="rect">
            <a:avLst/>
          </a:prstGeom>
          <a:solidFill>
            <a:srgbClr val="198DF5"/>
          </a:solidFill>
          <a:ln w="1270">
            <a:solidFill>
              <a:srgbClr val="198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01168"/>
            <a:ext cx="8001000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5F9FE"/>
                </a:solidFill>
                <a:latin typeface="맑은 고딕"/>
              </a:rPr>
              <a:t>Simulation Setup  |  Mesh &amp; Physics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23960" y="265176"/>
            <a:ext cx="2880360" cy="30175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1A8BA"/>
                </a:solidFill>
                <a:latin typeface="맑은 고딕"/>
              </a:rPr>
              <a:t>계산 비용과 물리 모델을 실행 전에 검증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" y="722376"/>
            <a:ext cx="11365992" cy="0"/>
          </a:xfrm>
          <a:prstGeom prst="line">
            <a:avLst/>
          </a:prstGeom>
          <a:ln w="12700">
            <a:solidFill>
              <a:srgbClr val="23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84048" y="914400"/>
            <a:ext cx="5577840" cy="3136392"/>
          </a:xfrm>
          <a:prstGeom prst="roundRect">
            <a:avLst>
              <a:gd name="adj" fmla="val 8000"/>
            </a:avLst>
          </a:prstGeom>
          <a:solidFill>
            <a:srgbClr val="0D1D2A"/>
          </a:solidFill>
          <a:ln w="10160">
            <a:solidFill>
              <a:srgbClr val="23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X02_Simulation Setup_F3_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41832"/>
            <a:ext cx="5522976" cy="308152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21208" y="1051560"/>
            <a:ext cx="932688" cy="274320"/>
          </a:xfrm>
          <a:prstGeom prst="roundRect">
            <a:avLst>
              <a:gd name="adj" fmla="val 8000"/>
            </a:avLst>
          </a:prstGeom>
          <a:solidFill>
            <a:srgbClr val="198DF5"/>
          </a:solidFill>
          <a:ln w="10160">
            <a:solidFill>
              <a:srgbClr val="198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" y="1060704"/>
            <a:ext cx="896112" cy="2286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5F9FE"/>
                </a:solidFill>
                <a:latin typeface="맑은 고딕"/>
              </a:rPr>
              <a:t>F3  MESH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914400"/>
            <a:ext cx="5577840" cy="3136392"/>
          </a:xfrm>
          <a:prstGeom prst="roundRect">
            <a:avLst>
              <a:gd name="adj" fmla="val 8000"/>
            </a:avLst>
          </a:prstGeom>
          <a:solidFill>
            <a:srgbClr val="0D1D2A"/>
          </a:solidFill>
          <a:ln w="10160">
            <a:solidFill>
              <a:srgbClr val="23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UX02_Simulation Setup_F4_Phys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941832"/>
            <a:ext cx="5522976" cy="308152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355080" y="1051560"/>
            <a:ext cx="932688" cy="274320"/>
          </a:xfrm>
          <a:prstGeom prst="roundRect">
            <a:avLst>
              <a:gd name="adj" fmla="val 8000"/>
            </a:avLst>
          </a:prstGeom>
          <a:solidFill>
            <a:srgbClr val="198DF5"/>
          </a:solidFill>
          <a:ln w="10160">
            <a:solidFill>
              <a:srgbClr val="198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1060704"/>
            <a:ext cx="896112" cy="2286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5F9FE"/>
                </a:solidFill>
                <a:latin typeface="맑은 고딕"/>
              </a:rPr>
              <a:t>F4  PHYSICS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24528"/>
            <a:ext cx="5276088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21B9F3"/>
                </a:solidFill>
                <a:latin typeface="맑은 고딕"/>
              </a:rPr>
              <a:t>RESOURCE VISIBILITY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407408"/>
            <a:ext cx="5276088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9FE"/>
                </a:solidFill>
                <a:latin typeface="맑은 고딕"/>
              </a:rPr>
              <a:t>고정 dxPhys와 GPU 메모리 예산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700016"/>
            <a:ext cx="5276088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91A8BA"/>
                </a:solidFill>
                <a:latin typeface="맑은 고딕"/>
              </a:rPr>
              <a:t>0.040 m 격자에서 예상 Cell 수와 분포함수·상태·텍스처 메모리를 보여 실행 가능성을 즉시 판단합니다.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4224528"/>
            <a:ext cx="5276088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21B9F3"/>
                </a:solidFill>
                <a:latin typeface="맑은 고딕"/>
              </a:rPr>
              <a:t>PHYSICS STAGING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4407408"/>
            <a:ext cx="5276088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9FE"/>
                </a:solidFill>
                <a:latin typeface="맑은 고딕"/>
              </a:rPr>
              <a:t>LBM·난류·열·부력 통합 설정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700016"/>
            <a:ext cx="5276088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91A8BA"/>
                </a:solidFill>
                <a:latin typeface="맑은 고딕"/>
              </a:rPr>
              <a:t>MRT, Smagorinsky, Thermal tau min, Boussinesq 등 핵심 모델을 편집하고 Run 시점에 일괄 적용합니다.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184648"/>
            <a:ext cx="11109960" cy="384048"/>
          </a:xfrm>
          <a:prstGeom prst="roundRect">
            <a:avLst>
              <a:gd name="adj" fmla="val 8000"/>
            </a:avLst>
          </a:prstGeom>
          <a:solidFill>
            <a:srgbClr val="112838"/>
          </a:solidFill>
          <a:ln w="10160">
            <a:solidFill>
              <a:srgbClr val="23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5248656"/>
            <a:ext cx="10698480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C94A"/>
                </a:solidFill>
                <a:latin typeface="맑은 고딕"/>
              </a:rPr>
              <a:t>핵심 가드레일  </a:t>
            </a:r>
            <a:r>
              <a:rPr sz="900" b="1">
                <a:solidFill>
                  <a:srgbClr val="F5F9FE"/>
                </a:solidFill>
                <a:latin typeface="맑은 고딕"/>
              </a:rPr>
              <a:t>Case Study 해상도 0.040 m 고정  </a:t>
            </a:r>
            <a:r>
              <a:rPr sz="900" b="0">
                <a:solidFill>
                  <a:srgbClr val="91A8BA"/>
                </a:solidFill>
                <a:latin typeface="맑은 고딕"/>
              </a:rPr>
              <a:t>|</a:t>
            </a:r>
            <a:r>
              <a:rPr sz="900" b="0">
                <a:solidFill>
                  <a:srgbClr val="D9E7F2"/>
                </a:solidFill>
                <a:latin typeface="맑은 고딕"/>
              </a:rPr>
              <a:t>  예상 GPU 300.4 MiB·제한 2,048 MiB  </a:t>
            </a:r>
            <a:r>
              <a:rPr sz="900" b="0">
                <a:solidFill>
                  <a:srgbClr val="91A8BA"/>
                </a:solidFill>
                <a:latin typeface="맑은 고딕"/>
              </a:rPr>
              <a:t>|</a:t>
            </a:r>
            <a:r>
              <a:rPr sz="900" b="0">
                <a:solidFill>
                  <a:srgbClr val="D9E7F2"/>
                </a:solidFill>
                <a:latin typeface="맑은 고딕"/>
              </a:rPr>
              <a:t>  변경은 Run 전까지 Staged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852160"/>
            <a:ext cx="1773936" cy="384048"/>
          </a:xfrm>
          <a:prstGeom prst="roundRect">
            <a:avLst>
              <a:gd name="adj" fmla="val 8000"/>
            </a:avLst>
          </a:prstGeom>
          <a:solidFill>
            <a:srgbClr val="112838"/>
          </a:solidFill>
          <a:ln w="10160">
            <a:solidFill>
              <a:srgbClr val="11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902452"/>
            <a:ext cx="1773936" cy="24688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91A8BA"/>
                </a:solidFill>
                <a:latin typeface="맑은 고딕"/>
              </a:rPr>
              <a:t>1  Case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68296" y="5852160"/>
            <a:ext cx="1773936" cy="384048"/>
          </a:xfrm>
          <a:prstGeom prst="roundRect">
            <a:avLst>
              <a:gd name="adj" fmla="val 8000"/>
            </a:avLst>
          </a:prstGeom>
          <a:solidFill>
            <a:srgbClr val="112838"/>
          </a:solidFill>
          <a:ln w="10160">
            <a:solidFill>
              <a:srgbClr val="11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68296" y="5902452"/>
            <a:ext cx="1773936" cy="24688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91A8BA"/>
                </a:solidFill>
                <a:latin typeface="맑은 고딕"/>
              </a:rPr>
              <a:t>2  Model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33672" y="5852160"/>
            <a:ext cx="1773936" cy="384048"/>
          </a:xfrm>
          <a:prstGeom prst="roundRect">
            <a:avLst>
              <a:gd name="adj" fmla="val 8000"/>
            </a:avLst>
          </a:prstGeom>
          <a:solidFill>
            <a:srgbClr val="198DF5"/>
          </a:solidFill>
          <a:ln w="10160">
            <a:solidFill>
              <a:srgbClr val="198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33672" y="5902452"/>
            <a:ext cx="1773936" cy="24688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F5F9FE"/>
                </a:solidFill>
                <a:latin typeface="맑은 고딕"/>
              </a:rPr>
              <a:t>3  Mesh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99048" y="5852160"/>
            <a:ext cx="1773936" cy="384048"/>
          </a:xfrm>
          <a:prstGeom prst="roundRect">
            <a:avLst>
              <a:gd name="adj" fmla="val 8000"/>
            </a:avLst>
          </a:prstGeom>
          <a:solidFill>
            <a:srgbClr val="198DF5"/>
          </a:solidFill>
          <a:ln w="10160">
            <a:solidFill>
              <a:srgbClr val="198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99048" y="5902452"/>
            <a:ext cx="1773936" cy="24688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F5F9FE"/>
                </a:solidFill>
                <a:latin typeface="맑은 고딕"/>
              </a:rPr>
              <a:t>4  Physics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64424" y="5852160"/>
            <a:ext cx="1773936" cy="384048"/>
          </a:xfrm>
          <a:prstGeom prst="roundRect">
            <a:avLst>
              <a:gd name="adj" fmla="val 8000"/>
            </a:avLst>
          </a:prstGeom>
          <a:solidFill>
            <a:srgbClr val="112838"/>
          </a:solidFill>
          <a:ln w="10160">
            <a:solidFill>
              <a:srgbClr val="11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64424" y="5902452"/>
            <a:ext cx="1773936" cy="24688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91A8BA"/>
                </a:solidFill>
                <a:latin typeface="맑은 고딕"/>
              </a:rPr>
              <a:t>5  Boundary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29800" y="5852160"/>
            <a:ext cx="1773936" cy="384048"/>
          </a:xfrm>
          <a:prstGeom prst="roundRect">
            <a:avLst>
              <a:gd name="adj" fmla="val 8000"/>
            </a:avLst>
          </a:prstGeom>
          <a:solidFill>
            <a:srgbClr val="112838"/>
          </a:solidFill>
          <a:ln w="10160">
            <a:solidFill>
              <a:srgbClr val="11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29800" y="5902452"/>
            <a:ext cx="1773936" cy="24688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91A8BA"/>
                </a:solidFill>
                <a:latin typeface="맑은 고딕"/>
              </a:rPr>
              <a:t>6  Run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565392"/>
            <a:ext cx="493776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91A8BA"/>
                </a:solidFill>
                <a:latin typeface="맑은 고딕"/>
              </a:rPr>
              <a:t>LBM/FMU SIMULATION PLATFORM  |  UX UPDATE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6565392"/>
            <a:ext cx="475488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1A8BA"/>
                </a:solidFill>
                <a:latin typeface="맑은 고딕"/>
              </a:rPr>
              <a:t>UX02  SIMULATION SETUP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61320" y="6565392"/>
            <a:ext cx="118872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91A8BA"/>
                </a:solidFill>
                <a:latin typeface="맑은 고딕"/>
              </a:rP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D"/>
          </a:solidFill>
          <a:ln w="1270">
            <a:solidFill>
              <a:srgbClr val="0713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804672" cy="31089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B9F3"/>
                </a:solidFill>
                <a:latin typeface="맑은 고딕"/>
              </a:rPr>
              <a:t>UX 02-3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03504"/>
            <a:ext cx="530352" cy="41148"/>
          </a:xfrm>
          <a:prstGeom prst="rect">
            <a:avLst/>
          </a:prstGeom>
          <a:solidFill>
            <a:srgbClr val="198DF5"/>
          </a:solidFill>
          <a:ln w="1270">
            <a:solidFill>
              <a:srgbClr val="198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01168"/>
            <a:ext cx="8001000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5F9FE"/>
                </a:solidFill>
                <a:latin typeface="맑은 고딕"/>
              </a:rPr>
              <a:t>Simulation Setup  |  Boundary &amp;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23960" y="265176"/>
            <a:ext cx="2880360" cy="30175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1A8BA"/>
                </a:solidFill>
                <a:latin typeface="맑은 고딕"/>
              </a:rPr>
              <a:t>경계조건 확인에서 재초기화·실행까지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" y="722376"/>
            <a:ext cx="11365992" cy="0"/>
          </a:xfrm>
          <a:prstGeom prst="line">
            <a:avLst/>
          </a:prstGeom>
          <a:ln w="12700">
            <a:solidFill>
              <a:srgbClr val="23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84048" y="914400"/>
            <a:ext cx="5577840" cy="3136392"/>
          </a:xfrm>
          <a:prstGeom prst="roundRect">
            <a:avLst>
              <a:gd name="adj" fmla="val 8000"/>
            </a:avLst>
          </a:prstGeom>
          <a:solidFill>
            <a:srgbClr val="0D1D2A"/>
          </a:solidFill>
          <a:ln w="10160">
            <a:solidFill>
              <a:srgbClr val="23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X02_Simulation Setup_F5_Bou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41832"/>
            <a:ext cx="5522976" cy="308152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21208" y="1051560"/>
            <a:ext cx="932688" cy="274320"/>
          </a:xfrm>
          <a:prstGeom prst="roundRect">
            <a:avLst>
              <a:gd name="adj" fmla="val 8000"/>
            </a:avLst>
          </a:prstGeom>
          <a:solidFill>
            <a:srgbClr val="198DF5"/>
          </a:solidFill>
          <a:ln w="10160">
            <a:solidFill>
              <a:srgbClr val="198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" y="1060704"/>
            <a:ext cx="896112" cy="2286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5F9FE"/>
                </a:solidFill>
                <a:latin typeface="맑은 고딕"/>
              </a:rPr>
              <a:t>F5  BOUNDARY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914400"/>
            <a:ext cx="5577840" cy="3136392"/>
          </a:xfrm>
          <a:prstGeom prst="roundRect">
            <a:avLst>
              <a:gd name="adj" fmla="val 8000"/>
            </a:avLst>
          </a:prstGeom>
          <a:solidFill>
            <a:srgbClr val="0D1D2A"/>
          </a:solidFill>
          <a:ln w="10160">
            <a:solidFill>
              <a:srgbClr val="23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UX02_Simulation Setup_F6_R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941832"/>
            <a:ext cx="5522976" cy="308152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355080" y="1051560"/>
            <a:ext cx="932688" cy="274320"/>
          </a:xfrm>
          <a:prstGeom prst="roundRect">
            <a:avLst>
              <a:gd name="adj" fmla="val 8000"/>
            </a:avLst>
          </a:prstGeom>
          <a:solidFill>
            <a:srgbClr val="198DF5"/>
          </a:solidFill>
          <a:ln w="10160">
            <a:solidFill>
              <a:srgbClr val="198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1060704"/>
            <a:ext cx="896112" cy="2286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5F9FE"/>
                </a:solidFill>
                <a:latin typeface="맑은 고딕"/>
              </a:rPr>
              <a:t>F6  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24528"/>
            <a:ext cx="5276088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21B9F3"/>
                </a:solidFill>
                <a:latin typeface="맑은 고딕"/>
              </a:rPr>
              <a:t>BOUNDARY TRACEABILITY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407408"/>
            <a:ext cx="5276088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9FE"/>
                </a:solidFill>
                <a:latin typeface="맑은 고딕"/>
              </a:rPr>
              <a:t>실제 Solver Boundary를 역할별로 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700016"/>
            <a:ext cx="5276088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91A8BA"/>
                </a:solidFill>
                <a:latin typeface="맑은 고딕"/>
              </a:rPr>
              <a:t>Inlet·Outlet·Wall 패치, 그리드 범위, 입력 모드를 보여 형상과 수치 설정의 추적성을 확보합니다.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4224528"/>
            <a:ext cx="5276088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21B9F3"/>
                </a:solidFill>
                <a:latin typeface="맑은 고딕"/>
              </a:rPr>
              <a:t>SAFE RUN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4407408"/>
            <a:ext cx="5276088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9FE"/>
                </a:solidFill>
                <a:latin typeface="맑은 고딕"/>
              </a:rPr>
              <a:t>요약 검토 후 명시적으로 실행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700016"/>
            <a:ext cx="5276088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91A8BA"/>
                </a:solidFill>
                <a:latin typeface="맑은 고딕"/>
              </a:rPr>
              <a:t>Case·Model·Mesh·Physics·Boundary를 최종 검토하고, Start New Run으로 Solver와 물리시간을 재초기화합니다.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184648"/>
            <a:ext cx="11109960" cy="384048"/>
          </a:xfrm>
          <a:prstGeom prst="roundRect">
            <a:avLst>
              <a:gd name="adj" fmla="val 8000"/>
            </a:avLst>
          </a:prstGeom>
          <a:solidFill>
            <a:srgbClr val="112838"/>
          </a:solidFill>
          <a:ln w="10160">
            <a:solidFill>
              <a:srgbClr val="23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257800"/>
            <a:ext cx="1005840" cy="2103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21B9F3"/>
                </a:solidFill>
                <a:latin typeface="맑은 고딕"/>
              </a:rPr>
              <a:t>RUN BEHAVIOR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01952" y="5257800"/>
            <a:ext cx="1188720" cy="2103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F5F9FE"/>
                </a:solidFill>
                <a:latin typeface="맑은 고딕"/>
              </a:rPr>
              <a:t>Start New Run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9816" y="5257800"/>
            <a:ext cx="1600200" cy="2103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91A8BA"/>
                </a:solidFill>
                <a:latin typeface="맑은 고딕"/>
              </a:rPr>
              <a:t>재초기화 후 실행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5257800"/>
            <a:ext cx="1280160" cy="2103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F5F9FE"/>
                </a:solidFill>
                <a:latin typeface="맑은 고딕"/>
              </a:rPr>
              <a:t>Pause / Resume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53912" y="5257800"/>
            <a:ext cx="1188720" cy="2103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91A8BA"/>
                </a:solidFill>
                <a:latin typeface="맑은 고딕"/>
              </a:rPr>
              <a:t>물리시간 유지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25512" y="5257800"/>
            <a:ext cx="640080" cy="2103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FF6577"/>
                </a:solidFill>
                <a:latin typeface="맑은 고딕"/>
              </a:rPr>
              <a:t>Stop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5257800"/>
            <a:ext cx="1143000" cy="2103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91A8BA"/>
                </a:solidFill>
                <a:latin typeface="맑은 고딕"/>
              </a:rPr>
              <a:t>현재 결과 보존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64624" y="5257800"/>
            <a:ext cx="1828800" cy="2103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26D995"/>
                </a:solidFill>
                <a:latin typeface="맑은 고딕"/>
              </a:rPr>
              <a:t>진행률·Step·시간 상시 표시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852160"/>
            <a:ext cx="1773936" cy="384048"/>
          </a:xfrm>
          <a:prstGeom prst="roundRect">
            <a:avLst>
              <a:gd name="adj" fmla="val 8000"/>
            </a:avLst>
          </a:prstGeom>
          <a:solidFill>
            <a:srgbClr val="112838"/>
          </a:solidFill>
          <a:ln w="10160">
            <a:solidFill>
              <a:srgbClr val="11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902452"/>
            <a:ext cx="1773936" cy="24688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91A8BA"/>
                </a:solidFill>
                <a:latin typeface="맑은 고딕"/>
              </a:rPr>
              <a:t>1  Case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368296" y="5852160"/>
            <a:ext cx="1773936" cy="384048"/>
          </a:xfrm>
          <a:prstGeom prst="roundRect">
            <a:avLst>
              <a:gd name="adj" fmla="val 8000"/>
            </a:avLst>
          </a:prstGeom>
          <a:solidFill>
            <a:srgbClr val="112838"/>
          </a:solidFill>
          <a:ln w="10160">
            <a:solidFill>
              <a:srgbClr val="11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68296" y="5902452"/>
            <a:ext cx="1773936" cy="24688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91A8BA"/>
                </a:solidFill>
                <a:latin typeface="맑은 고딕"/>
              </a:rPr>
              <a:t>2  Model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33672" y="5852160"/>
            <a:ext cx="1773936" cy="384048"/>
          </a:xfrm>
          <a:prstGeom prst="roundRect">
            <a:avLst>
              <a:gd name="adj" fmla="val 8000"/>
            </a:avLst>
          </a:prstGeom>
          <a:solidFill>
            <a:srgbClr val="112838"/>
          </a:solidFill>
          <a:ln w="10160">
            <a:solidFill>
              <a:srgbClr val="11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33672" y="5902452"/>
            <a:ext cx="1773936" cy="24688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91A8BA"/>
                </a:solidFill>
                <a:latin typeface="맑은 고딕"/>
              </a:rPr>
              <a:t>3  Mesh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99048" y="5852160"/>
            <a:ext cx="1773936" cy="384048"/>
          </a:xfrm>
          <a:prstGeom prst="roundRect">
            <a:avLst>
              <a:gd name="adj" fmla="val 8000"/>
            </a:avLst>
          </a:prstGeom>
          <a:solidFill>
            <a:srgbClr val="112838"/>
          </a:solidFill>
          <a:ln w="10160">
            <a:solidFill>
              <a:srgbClr val="11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99048" y="5902452"/>
            <a:ext cx="1773936" cy="24688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91A8BA"/>
                </a:solidFill>
                <a:latin typeface="맑은 고딕"/>
              </a:rPr>
              <a:t>4  Physics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64424" y="5852160"/>
            <a:ext cx="1773936" cy="384048"/>
          </a:xfrm>
          <a:prstGeom prst="roundRect">
            <a:avLst>
              <a:gd name="adj" fmla="val 8000"/>
            </a:avLst>
          </a:prstGeom>
          <a:solidFill>
            <a:srgbClr val="198DF5"/>
          </a:solidFill>
          <a:ln w="10160">
            <a:solidFill>
              <a:srgbClr val="198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64424" y="5902452"/>
            <a:ext cx="1773936" cy="24688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F5F9FE"/>
                </a:solidFill>
                <a:latin typeface="맑은 고딕"/>
              </a:rPr>
              <a:t>5  Boundary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829800" y="5852160"/>
            <a:ext cx="1773936" cy="384048"/>
          </a:xfrm>
          <a:prstGeom prst="roundRect">
            <a:avLst>
              <a:gd name="adj" fmla="val 8000"/>
            </a:avLst>
          </a:prstGeom>
          <a:solidFill>
            <a:srgbClr val="198DF5"/>
          </a:solidFill>
          <a:ln w="10160">
            <a:solidFill>
              <a:srgbClr val="198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29800" y="5902452"/>
            <a:ext cx="1773936" cy="24688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F5F9FE"/>
                </a:solidFill>
                <a:latin typeface="맑은 고딕"/>
              </a:rPr>
              <a:t>6  Run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6565392"/>
            <a:ext cx="493776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91A8BA"/>
                </a:solidFill>
                <a:latin typeface="맑은 고딕"/>
              </a:rPr>
              <a:t>LBM/FMU SIMULATION PLATFORM  |  UX UPDATE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46320" y="6565392"/>
            <a:ext cx="475488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1A8BA"/>
                </a:solidFill>
                <a:latin typeface="맑은 고딕"/>
              </a:rPr>
              <a:t>UX02  SIMULATION SETUP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61320" y="6565392"/>
            <a:ext cx="118872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91A8BA"/>
                </a:solidFill>
                <a:latin typeface="맑은 고딕"/>
              </a:rP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D"/>
          </a:solidFill>
          <a:ln w="1270">
            <a:solidFill>
              <a:srgbClr val="0713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804672" cy="31089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B9F3"/>
                </a:solidFill>
                <a:latin typeface="맑은 고딕"/>
              </a:rPr>
              <a:t>UX 03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03504"/>
            <a:ext cx="530352" cy="41148"/>
          </a:xfrm>
          <a:prstGeom prst="rect">
            <a:avLst/>
          </a:prstGeom>
          <a:solidFill>
            <a:srgbClr val="198DF5"/>
          </a:solidFill>
          <a:ln w="1270">
            <a:solidFill>
              <a:srgbClr val="198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01168"/>
            <a:ext cx="8001000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5F9FE"/>
                </a:solidFill>
                <a:latin typeface="맑은 고딕"/>
              </a:rPr>
              <a:t>Flow Visualization  |  공간 기류를 직관적으로 탐색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23960" y="265176"/>
            <a:ext cx="2880360" cy="30175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1A8BA"/>
                </a:solidFill>
                <a:latin typeface="맑은 고딕"/>
              </a:rPr>
              <a:t>절단면·변수·범위를 즉시 전환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" y="722376"/>
            <a:ext cx="11365992" cy="0"/>
          </a:xfrm>
          <a:prstGeom prst="line">
            <a:avLst/>
          </a:prstGeom>
          <a:ln w="12700">
            <a:solidFill>
              <a:srgbClr val="23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84048" y="914400"/>
            <a:ext cx="7690104" cy="4315968"/>
          </a:xfrm>
          <a:prstGeom prst="roundRect">
            <a:avLst>
              <a:gd name="adj" fmla="val 8000"/>
            </a:avLst>
          </a:prstGeom>
          <a:solidFill>
            <a:srgbClr val="0D1D2A"/>
          </a:solidFill>
          <a:ln w="10160">
            <a:solidFill>
              <a:srgbClr val="23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X03_Flow Vis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41832"/>
            <a:ext cx="7635240" cy="4261104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685800" y="1371600"/>
            <a:ext cx="283464" cy="283464"/>
          </a:xfrm>
          <a:prstGeom prst="ellipse">
            <a:avLst/>
          </a:prstGeom>
          <a:solidFill>
            <a:srgbClr val="198DF5"/>
          </a:solidFill>
          <a:ln w="10160">
            <a:solidFill>
              <a:srgbClr val="F5F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373428"/>
            <a:ext cx="283464" cy="26517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F9FE"/>
                </a:solidFill>
                <a:latin typeface="맑은 고딕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3438144" y="2103120"/>
            <a:ext cx="283464" cy="283464"/>
          </a:xfrm>
          <a:prstGeom prst="ellipse">
            <a:avLst/>
          </a:prstGeom>
          <a:solidFill>
            <a:srgbClr val="198DF5"/>
          </a:solidFill>
          <a:ln w="10160">
            <a:solidFill>
              <a:srgbClr val="F5F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2104948"/>
            <a:ext cx="283464" cy="26517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F9FE"/>
                </a:solidFill>
                <a:latin typeface="맑은 고딕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6601968" y="1975104"/>
            <a:ext cx="283464" cy="283464"/>
          </a:xfrm>
          <a:prstGeom prst="ellipse">
            <a:avLst/>
          </a:prstGeom>
          <a:solidFill>
            <a:srgbClr val="198DF5"/>
          </a:solidFill>
          <a:ln w="10160">
            <a:solidFill>
              <a:srgbClr val="F5F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1976932"/>
            <a:ext cx="283464" cy="26517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F9FE"/>
                </a:solidFill>
                <a:latin typeface="맑은 고딕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676656" y="4773168"/>
            <a:ext cx="283464" cy="283464"/>
          </a:xfrm>
          <a:prstGeom prst="ellipse">
            <a:avLst/>
          </a:prstGeom>
          <a:solidFill>
            <a:srgbClr val="198DF5"/>
          </a:solidFill>
          <a:ln w="10160">
            <a:solidFill>
              <a:srgbClr val="F5F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4774996"/>
            <a:ext cx="283464" cy="26517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F9FE"/>
                </a:solidFill>
                <a:latin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941832"/>
            <a:ext cx="2057400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21B9F3"/>
                </a:solidFill>
                <a:latin typeface="맑은 고딕"/>
              </a:rPr>
              <a:t>VISUAL 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1170432"/>
            <a:ext cx="3383280" cy="6400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9FE"/>
                </a:solidFill>
                <a:latin typeface="맑은 고딕"/>
              </a:rPr>
              <a:t>유동 필드를 보고
설명하는 결과 화면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02752" y="1993392"/>
            <a:ext cx="3429000" cy="850392"/>
          </a:xfrm>
          <a:prstGeom prst="roundRect">
            <a:avLst>
              <a:gd name="adj" fmla="val 8000"/>
            </a:avLst>
          </a:prstGeom>
          <a:solidFill>
            <a:srgbClr val="0D1D2A"/>
          </a:solidFill>
          <a:ln w="10160">
            <a:solidFill>
              <a:srgbClr val="23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02752" y="1993392"/>
            <a:ext cx="50292" cy="850392"/>
          </a:xfrm>
          <a:prstGeom prst="rect">
            <a:avLst/>
          </a:prstGeom>
          <a:solidFill>
            <a:srgbClr val="198DF5"/>
          </a:solidFill>
          <a:ln w="10160">
            <a:solidFill>
              <a:srgbClr val="198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67344" y="2167128"/>
            <a:ext cx="310896" cy="310896"/>
          </a:xfrm>
          <a:prstGeom prst="ellipse">
            <a:avLst/>
          </a:prstGeom>
          <a:solidFill>
            <a:srgbClr val="198DF5"/>
          </a:solidFill>
          <a:ln>
            <a:solidFill>
              <a:srgbClr val="198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67344" y="2167128"/>
            <a:ext cx="310896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F9FE"/>
                </a:solidFill>
                <a:latin typeface="맑은 고딕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8824" y="2103120"/>
            <a:ext cx="269748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F5F9FE"/>
                </a:solidFill>
                <a:latin typeface="맑은 고딕"/>
              </a:rPr>
              <a:t>3축 절단면 독립 제어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8824" y="2377440"/>
            <a:ext cx="2697480" cy="35661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91A8BA"/>
                </a:solidFill>
                <a:latin typeface="맑은 고딕"/>
              </a:rPr>
              <a:t>X(YZ)·Y(XZ)·Z(XY) 슬라이스를 켜고 위치를 조절해 관심 영역을 탐색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02752" y="2944368"/>
            <a:ext cx="3429000" cy="850392"/>
          </a:xfrm>
          <a:prstGeom prst="roundRect">
            <a:avLst>
              <a:gd name="adj" fmla="val 8000"/>
            </a:avLst>
          </a:prstGeom>
          <a:solidFill>
            <a:srgbClr val="0D1D2A"/>
          </a:solidFill>
          <a:ln w="10160">
            <a:solidFill>
              <a:srgbClr val="23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02752" y="2944368"/>
            <a:ext cx="50292" cy="850392"/>
          </a:xfrm>
          <a:prstGeom prst="rect">
            <a:avLst/>
          </a:prstGeom>
          <a:solidFill>
            <a:srgbClr val="21B9F3"/>
          </a:solidFill>
          <a:ln w="10160">
            <a:solidFill>
              <a:srgbClr val="21B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467344" y="3118104"/>
            <a:ext cx="310896" cy="310896"/>
          </a:xfrm>
          <a:prstGeom prst="ellipse">
            <a:avLst/>
          </a:prstGeom>
          <a:solidFill>
            <a:srgbClr val="21B9F3"/>
          </a:solidFill>
          <a:ln>
            <a:solidFill>
              <a:srgbClr val="21B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67344" y="3118104"/>
            <a:ext cx="310896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F9FE"/>
                </a:solidFill>
                <a:latin typeface="맑은 고딕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3054096"/>
            <a:ext cx="269748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F5F9FE"/>
                </a:solidFill>
                <a:latin typeface="맑은 고딕"/>
              </a:rPr>
              <a:t>변수별 표현 전환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78824" y="3328416"/>
            <a:ext cx="2697480" cy="35661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91A8BA"/>
                </a:solidFill>
                <a:latin typeface="맑은 고딕"/>
              </a:rPr>
              <a:t>Temperature·Velocity·Pressure·Streamline·Comfort·Mass Flux를 같은 View에서 비교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02752" y="3895344"/>
            <a:ext cx="3429000" cy="850392"/>
          </a:xfrm>
          <a:prstGeom prst="roundRect">
            <a:avLst>
              <a:gd name="adj" fmla="val 8000"/>
            </a:avLst>
          </a:prstGeom>
          <a:solidFill>
            <a:srgbClr val="0D1D2A"/>
          </a:solidFill>
          <a:ln w="10160">
            <a:solidFill>
              <a:srgbClr val="23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02752" y="3895344"/>
            <a:ext cx="50292" cy="850392"/>
          </a:xfrm>
          <a:prstGeom prst="rect">
            <a:avLst/>
          </a:prstGeom>
          <a:solidFill>
            <a:srgbClr val="26D995"/>
          </a:solidFill>
          <a:ln w="10160">
            <a:solidFill>
              <a:srgbClr val="26D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467344" y="4069080"/>
            <a:ext cx="310896" cy="310896"/>
          </a:xfrm>
          <a:prstGeom prst="ellipse">
            <a:avLst/>
          </a:prstGeom>
          <a:solidFill>
            <a:srgbClr val="26D995"/>
          </a:solidFill>
          <a:ln>
            <a:solidFill>
              <a:srgbClr val="26D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67344" y="4069080"/>
            <a:ext cx="310896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F9FE"/>
                </a:solidFill>
                <a:latin typeface="맑은 고딕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78824" y="4005072"/>
            <a:ext cx="269748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F5F9FE"/>
                </a:solidFill>
                <a:latin typeface="맑은 고딕"/>
              </a:rPr>
              <a:t>범위·컬러맵·카메라 통합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78824" y="4279392"/>
            <a:ext cx="2697480" cy="35661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91A8BA"/>
                </a:solidFill>
                <a:latin typeface="맑은 고딕"/>
              </a:rPr>
              <a:t>수동/자동 Range와 컬러맵을 지정하고 Fit·Orbit·Pan으로 공간 정보를 해석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02752" y="4919472"/>
            <a:ext cx="3429000" cy="521207"/>
          </a:xfrm>
          <a:prstGeom prst="roundRect">
            <a:avLst>
              <a:gd name="adj" fmla="val 8000"/>
            </a:avLst>
          </a:prstGeom>
          <a:solidFill>
            <a:srgbClr val="112838"/>
          </a:solidFill>
          <a:ln w="10160">
            <a:solidFill>
              <a:srgbClr val="23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85632" y="5029200"/>
            <a:ext cx="3054096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21B9F3"/>
                </a:solidFill>
                <a:latin typeface="맑은 고딕"/>
              </a:rPr>
              <a:t>결과  </a:t>
            </a:r>
            <a:r>
              <a:rPr sz="940" b="1">
                <a:solidFill>
                  <a:srgbClr val="D9E7F2"/>
                </a:solidFill>
                <a:latin typeface="맑은 고딕"/>
              </a:rPr>
              <a:t>고속 제트 코어와 확산 범위를 화면에서 즉시 비교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493776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91A8BA"/>
                </a:solidFill>
                <a:latin typeface="맑은 고딕"/>
              </a:rPr>
              <a:t>LBM/FMU SIMULATION PLATFORM  |  UX UPDATE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46320" y="6565392"/>
            <a:ext cx="475488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1A8BA"/>
                </a:solidFill>
                <a:latin typeface="맑은 고딕"/>
              </a:rPr>
              <a:t>UX03  FLOW VISUALIZATION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61320" y="6565392"/>
            <a:ext cx="118872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91A8BA"/>
                </a:solidFill>
                <a:latin typeface="맑은 고딕"/>
              </a:rP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D"/>
          </a:solidFill>
          <a:ln w="1270">
            <a:solidFill>
              <a:srgbClr val="0713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804672" cy="31089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B9F3"/>
                </a:solidFill>
                <a:latin typeface="맑은 고딕"/>
              </a:rPr>
              <a:t>UX 04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03504"/>
            <a:ext cx="530352" cy="41148"/>
          </a:xfrm>
          <a:prstGeom prst="rect">
            <a:avLst/>
          </a:prstGeom>
          <a:solidFill>
            <a:srgbClr val="198DF5"/>
          </a:solidFill>
          <a:ln w="1270">
            <a:solidFill>
              <a:srgbClr val="198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01168"/>
            <a:ext cx="8001000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5F9FE"/>
                </a:solidFill>
                <a:latin typeface="맑은 고딕"/>
              </a:rPr>
              <a:t>System Monitor  |  LBM·FMU 신호를 한 화면에 통합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23960" y="265176"/>
            <a:ext cx="2880360" cy="30175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1A8BA"/>
                </a:solidFill>
                <a:latin typeface="맑은 고딕"/>
              </a:rPr>
              <a:t>제어기–제품–센서 실시간 상태 감시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" y="722376"/>
            <a:ext cx="11365992" cy="0"/>
          </a:xfrm>
          <a:prstGeom prst="line">
            <a:avLst/>
          </a:prstGeom>
          <a:ln w="12700">
            <a:solidFill>
              <a:srgbClr val="23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84048" y="914400"/>
            <a:ext cx="7690104" cy="4315968"/>
          </a:xfrm>
          <a:prstGeom prst="roundRect">
            <a:avLst>
              <a:gd name="adj" fmla="val 8000"/>
            </a:avLst>
          </a:prstGeom>
          <a:solidFill>
            <a:srgbClr val="0D1D2A"/>
          </a:solidFill>
          <a:ln w="10160">
            <a:solidFill>
              <a:srgbClr val="23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X04_System Mon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41832"/>
            <a:ext cx="7635240" cy="4261104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640080" y="1234440"/>
            <a:ext cx="283464" cy="283464"/>
          </a:xfrm>
          <a:prstGeom prst="ellipse">
            <a:avLst/>
          </a:prstGeom>
          <a:solidFill>
            <a:srgbClr val="198DF5"/>
          </a:solidFill>
          <a:ln w="10160">
            <a:solidFill>
              <a:srgbClr val="F5F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36268"/>
            <a:ext cx="283464" cy="26517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F9FE"/>
                </a:solidFill>
                <a:latin typeface="맑은 고딕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3502152" y="1234440"/>
            <a:ext cx="283464" cy="283464"/>
          </a:xfrm>
          <a:prstGeom prst="ellipse">
            <a:avLst/>
          </a:prstGeom>
          <a:solidFill>
            <a:srgbClr val="198DF5"/>
          </a:solidFill>
          <a:ln w="10160">
            <a:solidFill>
              <a:srgbClr val="F5F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02152" y="1236268"/>
            <a:ext cx="283464" cy="26517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F9FE"/>
                </a:solidFill>
                <a:latin typeface="맑은 고딕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5852160" y="1234440"/>
            <a:ext cx="283464" cy="283464"/>
          </a:xfrm>
          <a:prstGeom prst="ellipse">
            <a:avLst/>
          </a:prstGeom>
          <a:solidFill>
            <a:srgbClr val="198DF5"/>
          </a:solidFill>
          <a:ln w="10160">
            <a:solidFill>
              <a:srgbClr val="F5F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1236268"/>
            <a:ext cx="283464" cy="26517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F9FE"/>
                </a:solidFill>
                <a:latin typeface="맑은 고딕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3054096" y="3977639"/>
            <a:ext cx="283464" cy="283464"/>
          </a:xfrm>
          <a:prstGeom prst="ellipse">
            <a:avLst/>
          </a:prstGeom>
          <a:solidFill>
            <a:srgbClr val="198DF5"/>
          </a:solidFill>
          <a:ln w="10160">
            <a:solidFill>
              <a:srgbClr val="F5F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4096" y="3979468"/>
            <a:ext cx="283464" cy="26517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F9FE"/>
                </a:solidFill>
                <a:latin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941832"/>
            <a:ext cx="2377440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21B9F3"/>
                </a:solidFill>
                <a:latin typeface="맑은 고딕"/>
              </a:rPr>
              <a:t>SYSTEM OBSERVABILITY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1170432"/>
            <a:ext cx="3383280" cy="6400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9FE"/>
                </a:solidFill>
                <a:latin typeface="맑은 고딕"/>
              </a:rPr>
              <a:t>현재값·상태·추이로
Co-simulation을 감시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02752" y="1993392"/>
            <a:ext cx="3429000" cy="850392"/>
          </a:xfrm>
          <a:prstGeom prst="roundRect">
            <a:avLst>
              <a:gd name="adj" fmla="val 8000"/>
            </a:avLst>
          </a:prstGeom>
          <a:solidFill>
            <a:srgbClr val="0D1D2A"/>
          </a:solidFill>
          <a:ln w="10160">
            <a:solidFill>
              <a:srgbClr val="23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02752" y="1993392"/>
            <a:ext cx="50292" cy="850392"/>
          </a:xfrm>
          <a:prstGeom prst="rect">
            <a:avLst/>
          </a:prstGeom>
          <a:solidFill>
            <a:srgbClr val="198DF5"/>
          </a:solidFill>
          <a:ln w="10160">
            <a:solidFill>
              <a:srgbClr val="198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67344" y="2167128"/>
            <a:ext cx="310896" cy="310896"/>
          </a:xfrm>
          <a:prstGeom prst="ellipse">
            <a:avLst/>
          </a:prstGeom>
          <a:solidFill>
            <a:srgbClr val="198DF5"/>
          </a:solidFill>
          <a:ln>
            <a:solidFill>
              <a:srgbClr val="198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67344" y="2167128"/>
            <a:ext cx="310896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F9FE"/>
                </a:solidFill>
                <a:latin typeface="맑은 고딕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8824" y="2103120"/>
            <a:ext cx="269748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F5F9FE"/>
                </a:solidFill>
                <a:latin typeface="맑은 고딕"/>
              </a:rPr>
              <a:t>FMU 영역별 상태 분리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8824" y="2377440"/>
            <a:ext cx="2697480" cy="35661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91A8BA"/>
                </a:solidFill>
                <a:latin typeface="맑은 고딕"/>
              </a:rPr>
              <a:t>Product 액추에이터, Airflow 센서, Controller 전장 신호를 영역별로 구조화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02752" y="2944368"/>
            <a:ext cx="3429000" cy="850392"/>
          </a:xfrm>
          <a:prstGeom prst="roundRect">
            <a:avLst>
              <a:gd name="adj" fmla="val 8000"/>
            </a:avLst>
          </a:prstGeom>
          <a:solidFill>
            <a:srgbClr val="0D1D2A"/>
          </a:solidFill>
          <a:ln w="10160">
            <a:solidFill>
              <a:srgbClr val="23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02752" y="2944368"/>
            <a:ext cx="50292" cy="850392"/>
          </a:xfrm>
          <a:prstGeom prst="rect">
            <a:avLst/>
          </a:prstGeom>
          <a:solidFill>
            <a:srgbClr val="26D995"/>
          </a:solidFill>
          <a:ln w="10160">
            <a:solidFill>
              <a:srgbClr val="26D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467344" y="3118104"/>
            <a:ext cx="310896" cy="310896"/>
          </a:xfrm>
          <a:prstGeom prst="ellipse">
            <a:avLst/>
          </a:prstGeom>
          <a:solidFill>
            <a:srgbClr val="26D995"/>
          </a:solidFill>
          <a:ln>
            <a:solidFill>
              <a:srgbClr val="26D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67344" y="3118104"/>
            <a:ext cx="310896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F9FE"/>
                </a:solidFill>
                <a:latin typeface="맑은 고딕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3054096"/>
            <a:ext cx="269748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F5F9FE"/>
                </a:solidFill>
                <a:latin typeface="맑은 고딕"/>
              </a:rPr>
              <a:t>Live 건강 상태 표시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78824" y="3328416"/>
            <a:ext cx="2697480" cy="35661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91A8BA"/>
                </a:solidFill>
                <a:latin typeface="맑은 고딕"/>
              </a:rPr>
              <a:t>현재값·단위·Live 상태를 행 단위로 표시해 연결 누락과 이상치를 조기 발견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02752" y="3895344"/>
            <a:ext cx="3429000" cy="850392"/>
          </a:xfrm>
          <a:prstGeom prst="roundRect">
            <a:avLst>
              <a:gd name="adj" fmla="val 8000"/>
            </a:avLst>
          </a:prstGeom>
          <a:solidFill>
            <a:srgbClr val="0D1D2A"/>
          </a:solidFill>
          <a:ln w="10160">
            <a:solidFill>
              <a:srgbClr val="23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02752" y="3895344"/>
            <a:ext cx="50292" cy="850392"/>
          </a:xfrm>
          <a:prstGeom prst="rect">
            <a:avLst/>
          </a:prstGeom>
          <a:solidFill>
            <a:srgbClr val="21B9F3"/>
          </a:solidFill>
          <a:ln w="10160">
            <a:solidFill>
              <a:srgbClr val="21B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467344" y="4069080"/>
            <a:ext cx="310896" cy="310896"/>
          </a:xfrm>
          <a:prstGeom prst="ellipse">
            <a:avLst/>
          </a:prstGeom>
          <a:solidFill>
            <a:srgbClr val="21B9F3"/>
          </a:solidFill>
          <a:ln>
            <a:solidFill>
              <a:srgbClr val="21B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67344" y="4069080"/>
            <a:ext cx="310896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F9FE"/>
                </a:solidFill>
                <a:latin typeface="맑은 고딕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78824" y="4005072"/>
            <a:ext cx="269748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F5F9FE"/>
                </a:solidFill>
                <a:latin typeface="맑은 고딕"/>
              </a:rPr>
              <a:t>주요 신호·IDU 비교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78824" y="4279392"/>
            <a:ext cx="2697480" cy="35661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91A8BA"/>
                </a:solidFill>
                <a:latin typeface="맑은 고딕"/>
              </a:rPr>
              <a:t>주파수·압력·회전수 추이와 실내기별 온도·습도·풍량을 동시 감시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02752" y="4919472"/>
            <a:ext cx="3429000" cy="521207"/>
          </a:xfrm>
          <a:prstGeom prst="roundRect">
            <a:avLst>
              <a:gd name="adj" fmla="val 8000"/>
            </a:avLst>
          </a:prstGeom>
          <a:solidFill>
            <a:srgbClr val="112838"/>
          </a:solidFill>
          <a:ln w="10160">
            <a:solidFill>
              <a:srgbClr val="23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85632" y="5029200"/>
            <a:ext cx="3054096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21B9F3"/>
                </a:solidFill>
                <a:latin typeface="맑은 고딕"/>
              </a:rPr>
              <a:t>핵심  </a:t>
            </a:r>
            <a:r>
              <a:rPr sz="930" b="1">
                <a:solidFill>
                  <a:srgbClr val="D9E7F2"/>
                </a:solidFill>
                <a:latin typeface="맑은 고딕"/>
              </a:rPr>
              <a:t>Controller → Product 신호 전달과 Plant 응답을 한 눈에 추적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493776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91A8BA"/>
                </a:solidFill>
                <a:latin typeface="맑은 고딕"/>
              </a:rPr>
              <a:t>LBM/FMU SIMULATION PLATFORM  |  UX UPDATE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46320" y="6565392"/>
            <a:ext cx="475488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1A8BA"/>
                </a:solidFill>
                <a:latin typeface="맑은 고딕"/>
              </a:rPr>
              <a:t>UX04  SYSTEM MONITOR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61320" y="6565392"/>
            <a:ext cx="118872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91A8BA"/>
                </a:solidFill>
                <a:latin typeface="맑은 고딕"/>
              </a:rP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D"/>
          </a:solidFill>
          <a:ln w="1270">
            <a:solidFill>
              <a:srgbClr val="0713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804672" cy="31089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B9F3"/>
                </a:solidFill>
                <a:latin typeface="맑은 고딕"/>
              </a:rPr>
              <a:t>UX 05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03504"/>
            <a:ext cx="530352" cy="41148"/>
          </a:xfrm>
          <a:prstGeom prst="rect">
            <a:avLst/>
          </a:prstGeom>
          <a:solidFill>
            <a:srgbClr val="198DF5"/>
          </a:solidFill>
          <a:ln w="1270">
            <a:solidFill>
              <a:srgbClr val="198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01168"/>
            <a:ext cx="8001000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5F9FE"/>
                </a:solidFill>
                <a:latin typeface="맑은 고딕"/>
              </a:rPr>
              <a:t>Time History  |  신호를 선택하고 흐름을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23960" y="265176"/>
            <a:ext cx="2880360" cy="30175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1A8BA"/>
                </a:solidFill>
                <a:latin typeface="맑은 고딕"/>
              </a:rPr>
              <a:t>다중 스케일 트렌드·그래프·CSV 내보내기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" y="722376"/>
            <a:ext cx="11365992" cy="0"/>
          </a:xfrm>
          <a:prstGeom prst="line">
            <a:avLst/>
          </a:prstGeom>
          <a:ln w="12700">
            <a:solidFill>
              <a:srgbClr val="23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84048" y="914400"/>
            <a:ext cx="7690104" cy="4315968"/>
          </a:xfrm>
          <a:prstGeom prst="roundRect">
            <a:avLst>
              <a:gd name="adj" fmla="val 8000"/>
            </a:avLst>
          </a:prstGeom>
          <a:solidFill>
            <a:srgbClr val="0D1D2A"/>
          </a:solidFill>
          <a:ln w="10160">
            <a:solidFill>
              <a:srgbClr val="23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X05_Time 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41832"/>
            <a:ext cx="7635240" cy="4261104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658368" y="1389888"/>
            <a:ext cx="283464" cy="283464"/>
          </a:xfrm>
          <a:prstGeom prst="ellipse">
            <a:avLst/>
          </a:prstGeom>
          <a:solidFill>
            <a:srgbClr val="198DF5"/>
          </a:solidFill>
          <a:ln w="10160">
            <a:solidFill>
              <a:srgbClr val="F5F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391716"/>
            <a:ext cx="283464" cy="26517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F9FE"/>
                </a:solidFill>
                <a:latin typeface="맑은 고딕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3648456" y="1581912"/>
            <a:ext cx="283464" cy="283464"/>
          </a:xfrm>
          <a:prstGeom prst="ellipse">
            <a:avLst/>
          </a:prstGeom>
          <a:solidFill>
            <a:srgbClr val="198DF5"/>
          </a:solidFill>
          <a:ln w="10160">
            <a:solidFill>
              <a:srgbClr val="F5F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8456" y="1583740"/>
            <a:ext cx="283464" cy="26517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F9FE"/>
                </a:solidFill>
                <a:latin typeface="맑은 고딕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7351775" y="1069848"/>
            <a:ext cx="283464" cy="283464"/>
          </a:xfrm>
          <a:prstGeom prst="ellipse">
            <a:avLst/>
          </a:prstGeom>
          <a:solidFill>
            <a:srgbClr val="198DF5"/>
          </a:solidFill>
          <a:ln w="10160">
            <a:solidFill>
              <a:srgbClr val="F5F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51775" y="1071676"/>
            <a:ext cx="283464" cy="26517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F9FE"/>
                </a:solidFill>
                <a:latin typeface="맑은 고딕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6126480" y="4736592"/>
            <a:ext cx="283464" cy="283464"/>
          </a:xfrm>
          <a:prstGeom prst="ellipse">
            <a:avLst/>
          </a:prstGeom>
          <a:solidFill>
            <a:srgbClr val="198DF5"/>
          </a:solidFill>
          <a:ln w="10160">
            <a:solidFill>
              <a:srgbClr val="F5F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4738420"/>
            <a:ext cx="283464" cy="26517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F9FE"/>
                </a:solidFill>
                <a:latin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941832"/>
            <a:ext cx="2240280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21B9F3"/>
                </a:solidFill>
                <a:latin typeface="맑은 고딕"/>
              </a:rPr>
              <a:t>SIGNAL EXPLORATION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1170432"/>
            <a:ext cx="3383280" cy="6400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9FE"/>
                </a:solidFill>
                <a:latin typeface="맑은 고딕"/>
              </a:rPr>
              <a:t>필요한 변수만 골라
시간적 관계를 해석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02752" y="1993392"/>
            <a:ext cx="3429000" cy="850392"/>
          </a:xfrm>
          <a:prstGeom prst="roundRect">
            <a:avLst>
              <a:gd name="adj" fmla="val 8000"/>
            </a:avLst>
          </a:prstGeom>
          <a:solidFill>
            <a:srgbClr val="0D1D2A"/>
          </a:solidFill>
          <a:ln w="10160">
            <a:solidFill>
              <a:srgbClr val="23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02752" y="1993392"/>
            <a:ext cx="50292" cy="850392"/>
          </a:xfrm>
          <a:prstGeom prst="rect">
            <a:avLst/>
          </a:prstGeom>
          <a:solidFill>
            <a:srgbClr val="198DF5"/>
          </a:solidFill>
          <a:ln w="10160">
            <a:solidFill>
              <a:srgbClr val="198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67344" y="2167128"/>
            <a:ext cx="310896" cy="310896"/>
          </a:xfrm>
          <a:prstGeom prst="ellipse">
            <a:avLst/>
          </a:prstGeom>
          <a:solidFill>
            <a:srgbClr val="198DF5"/>
          </a:solidFill>
          <a:ln>
            <a:solidFill>
              <a:srgbClr val="198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67344" y="2167128"/>
            <a:ext cx="310896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F9FE"/>
                </a:solidFill>
                <a:latin typeface="맑은 고딕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8824" y="2103120"/>
            <a:ext cx="269748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F5F9FE"/>
                </a:solidFill>
                <a:latin typeface="맑은 고딕"/>
              </a:rPr>
              <a:t>대규모 I/O 변수 선택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8824" y="2377440"/>
            <a:ext cx="2697480" cy="35661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91A8BA"/>
                </a:solidFill>
                <a:latin typeface="맑은 고딕"/>
              </a:rPr>
              <a:t>Input·Output 목록에서 변수를 선택하고 색상·단위와 함께 그래프에 추가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02752" y="2944368"/>
            <a:ext cx="3429000" cy="850392"/>
          </a:xfrm>
          <a:prstGeom prst="roundRect">
            <a:avLst>
              <a:gd name="adj" fmla="val 8000"/>
            </a:avLst>
          </a:prstGeom>
          <a:solidFill>
            <a:srgbClr val="0D1D2A"/>
          </a:solidFill>
          <a:ln w="10160">
            <a:solidFill>
              <a:srgbClr val="23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02752" y="2944368"/>
            <a:ext cx="50292" cy="850392"/>
          </a:xfrm>
          <a:prstGeom prst="rect">
            <a:avLst/>
          </a:prstGeom>
          <a:solidFill>
            <a:srgbClr val="21B9F3"/>
          </a:solidFill>
          <a:ln w="10160">
            <a:solidFill>
              <a:srgbClr val="21B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467344" y="3118104"/>
            <a:ext cx="310896" cy="310896"/>
          </a:xfrm>
          <a:prstGeom prst="ellipse">
            <a:avLst/>
          </a:prstGeom>
          <a:solidFill>
            <a:srgbClr val="21B9F3"/>
          </a:solidFill>
          <a:ln>
            <a:solidFill>
              <a:srgbClr val="21B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67344" y="3118104"/>
            <a:ext cx="310896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F9FE"/>
                </a:solidFill>
                <a:latin typeface="맑은 고딕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3054096"/>
            <a:ext cx="269748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F5F9FE"/>
                </a:solidFill>
                <a:latin typeface="맑은 고딕"/>
              </a:rPr>
              <a:t>다중 스케일·다중 그래프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78824" y="3328416"/>
            <a:ext cx="2697480" cy="35661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91A8BA"/>
                </a:solidFill>
                <a:latin typeface="맑은 고딕"/>
              </a:rPr>
              <a:t>단위가 다른 신호도 개별 스케일로 표현하고 1st·3rd Graph에 관점별로 구성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02752" y="3895344"/>
            <a:ext cx="3429000" cy="850392"/>
          </a:xfrm>
          <a:prstGeom prst="roundRect">
            <a:avLst>
              <a:gd name="adj" fmla="val 8000"/>
            </a:avLst>
          </a:prstGeom>
          <a:solidFill>
            <a:srgbClr val="0D1D2A"/>
          </a:solidFill>
          <a:ln w="10160">
            <a:solidFill>
              <a:srgbClr val="23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02752" y="3895344"/>
            <a:ext cx="50292" cy="850392"/>
          </a:xfrm>
          <a:prstGeom prst="rect">
            <a:avLst/>
          </a:prstGeom>
          <a:solidFill>
            <a:srgbClr val="26D995"/>
          </a:solidFill>
          <a:ln w="10160">
            <a:solidFill>
              <a:srgbClr val="26D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467344" y="4069080"/>
            <a:ext cx="310896" cy="310896"/>
          </a:xfrm>
          <a:prstGeom prst="ellipse">
            <a:avLst/>
          </a:prstGeom>
          <a:solidFill>
            <a:srgbClr val="26D995"/>
          </a:solidFill>
          <a:ln>
            <a:solidFill>
              <a:srgbClr val="26D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67344" y="4069080"/>
            <a:ext cx="310896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F9FE"/>
                </a:solidFill>
                <a:latin typeface="맑은 고딕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78824" y="4005072"/>
            <a:ext cx="269748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F5F9FE"/>
                </a:solidFill>
                <a:latin typeface="맑은 고딕"/>
              </a:rPr>
              <a:t>상호작용과 CSV 활용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78824" y="4279392"/>
            <a:ext cx="2697480" cy="35661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91A8BA"/>
                </a:solidFill>
                <a:latin typeface="맑은 고딕"/>
              </a:rPr>
              <a:t>Hover 값 확인, Zoom·Pan·Reset으로 구간을 탐색하고 CSV로 내보내 후분석 연결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02752" y="4919472"/>
            <a:ext cx="3429000" cy="521207"/>
          </a:xfrm>
          <a:prstGeom prst="roundRect">
            <a:avLst>
              <a:gd name="adj" fmla="val 8000"/>
            </a:avLst>
          </a:prstGeom>
          <a:solidFill>
            <a:srgbClr val="112838"/>
          </a:solidFill>
          <a:ln w="10160">
            <a:solidFill>
              <a:srgbClr val="23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85632" y="5029200"/>
            <a:ext cx="3054096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21B9F3"/>
                </a:solidFill>
                <a:latin typeface="맑은 고딕"/>
              </a:rPr>
              <a:t>결과  </a:t>
            </a:r>
            <a:r>
              <a:rPr sz="919" b="1">
                <a:solidFill>
                  <a:srgbClr val="D9E7F2"/>
                </a:solidFill>
                <a:latin typeface="맑은 고딕"/>
              </a:rPr>
              <a:t>제어 입력과 제품·유동 응답의 시간지연·안정화 거동 비교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493776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91A8BA"/>
                </a:solidFill>
                <a:latin typeface="맑은 고딕"/>
              </a:rPr>
              <a:t>LBM/FMU SIMULATION PLATFORM  |  UX UPDATE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46320" y="6565392"/>
            <a:ext cx="475488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1A8BA"/>
                </a:solidFill>
                <a:latin typeface="맑은 고딕"/>
              </a:rPr>
              <a:t>UX05  TIME HISTORY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61320" y="6565392"/>
            <a:ext cx="118872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91A8BA"/>
                </a:solidFill>
                <a:latin typeface="맑은 고딕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LBM/FMU Simulation Platform Dashboard UX Update</dc:title>
  <dc:subject>UX01–UX05 기능 소개</dc:subject>
  <dc:creator>OpenAI Codex</dc:creator>
  <cp:keywords>LBM, FMU, Unity, Dashboard, UX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