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>
    <p:cSldViewPr snapToGrid="1" snapToObjects="1"/>
  </p:slideViewPr>
  <p:gridSpacing cx="78028800" cy="780288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F81BD" accent2="C0504D" accent3="9BBB59" accent4="8064A2" accent5="4BACC6" accent6="F7964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wrap="square" lIns="109728" rIns="109728" tIns="45720" bIns="45720" anchor="ctr"/>
          <a:lstStyle/>
          <a:p>
            <a:endParaRPr lang="ko-KR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</a:ln>
        </p:spPr>
        <p:txBody>
          <a:bodyPr wrap="square" lIns="109728" rIns="109728" tIns="45720" bIns="45720" anchor="ctr"/>
          <a:lstStyle/>
          <a:p>
            <a:endParaRPr lang="ko-KR"/>
          </a:p>
        </p:txBody>
      </p:sp>
      <p:sp>
        <p:nvSpPr>
          <p:cNvPr id="4" name="Title"/>
          <p:cNvSpPr/>
          <p:nvPr/>
        </p:nvSpPr>
        <p:spPr>
          <a:xfrm>
            <a:off x="438912" y="137160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l"/>
            <a:r>
              <a:rPr lang="ko-KR" sz="2600" b="1">
                <a:solidFill>
                  <a:srgbClr val="FFFFFF"/>
                </a:solidFill>
                <a:latin typeface="Malgun Gothic"/>
                <a:ea typeface="Malgun Gothic"/>
              </a:rPr>
              <a:t>FMU–LBM 연동 성능 개선 결과</a:t>
            </a:r>
            <a:endParaRPr lang="ko-KR" sz="2600"/>
          </a:p>
        </p:txBody>
      </p:sp>
      <p:sp>
        <p:nvSpPr>
          <p:cNvPr id="5" name="Subtitle"/>
          <p:cNvSpPr/>
          <p:nvPr/>
        </p:nvSpPr>
        <p:spPr>
          <a:xfrm>
            <a:off x="457200" y="557784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l"/>
            <a:r>
              <a:rPr lang="ko-KR" sz="1100">
                <a:solidFill>
                  <a:srgbClr val="B7C6DA"/>
                </a:solidFill>
                <a:latin typeface="Malgun Gothic"/>
                <a:ea typeface="Malgun Gothic"/>
              </a:rPr>
              <a:t>어떤 문제가 있었고, 통신 구조를 어떻게 바꿨는가</a:t>
            </a:r>
            <a:endParaRPr lang="ko-KR" sz="1100"/>
          </a:p>
        </p:txBody>
      </p:sp>
      <p:sp>
        <p:nvSpPr>
          <p:cNvPr id="6" name="Tag"/>
          <p:cNvSpPr/>
          <p:nvPr/>
        </p:nvSpPr>
        <p:spPr>
          <a:xfrm>
            <a:off x="9738360" y="265176"/>
            <a:ext cx="1965960" cy="356616"/>
          </a:xfrm>
          <a:prstGeom prst="roundRect">
            <a:avLst/>
          </a:prstGeom>
          <a:solidFill>
            <a:srgbClr val="1D334E"/>
          </a:solidFill>
          <a:ln w="12700">
            <a:solidFill>
              <a:srgbClr val="2B496D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53D7C2"/>
                </a:solidFill>
                <a:latin typeface="Malgun Gothic"/>
                <a:ea typeface="Malgun Gothic"/>
              </a:rPr>
              <a:t>PROBLEM → SOLUTION</a:t>
            </a:r>
            <a:endParaRPr lang="ko-KR" sz="1000"/>
          </a:p>
        </p:txBody>
      </p:sp>
      <p:sp>
        <p:nvSpPr>
          <p:cNvPr id="7" name="Problem Panel"/>
          <p:cNvSpPr/>
          <p:nvPr/>
        </p:nvSpPr>
        <p:spPr>
          <a:xfrm>
            <a:off x="438912" y="1060704"/>
            <a:ext cx="11311128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txBody>
          <a:bodyPr wrap="square" lIns="109728" rIns="109728" tIns="45720" bIns="45720" anchor="ctr"/>
          <a:lstStyle/>
          <a:p>
            <a:endParaRPr lang="ko-KR"/>
          </a:p>
        </p:txBody>
      </p:sp>
      <p:sp>
        <p:nvSpPr>
          <p:cNvPr id="8" name="Problem Label"/>
          <p:cNvSpPr/>
          <p:nvPr/>
        </p:nvSpPr>
        <p:spPr>
          <a:xfrm>
            <a:off x="640080" y="1188720"/>
            <a:ext cx="1508760" cy="265176"/>
          </a:xfrm>
          <a:prstGeom prst="roundRect">
            <a:avLst/>
          </a:prstGeom>
          <a:solidFill>
            <a:srgbClr val="FDE9E7"/>
          </a:solidFill>
          <a:ln w="12700">
            <a:solidFill>
              <a:srgbClr val="F6C8C3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B64A40"/>
                </a:solidFill>
                <a:latin typeface="Malgun Gothic"/>
                <a:ea typeface="Malgun Gothic"/>
              </a:rPr>
              <a:t>추진 배경 · 문제</a:t>
            </a:r>
            <a:endParaRPr lang="ko-KR" sz="1000"/>
          </a:p>
        </p:txBody>
      </p:sp>
      <p:sp>
        <p:nvSpPr>
          <p:cNvPr id="9" name="Problem Card 0"/>
          <p:cNvSpPr/>
          <p:nvPr/>
        </p:nvSpPr>
        <p:spPr>
          <a:xfrm>
            <a:off x="640080" y="1536192"/>
            <a:ext cx="2331720" cy="530352"/>
          </a:xfrm>
          <a:prstGeom prst="roundRect">
            <a:avLst/>
          </a:prstGeom>
          <a:solidFill>
            <a:srgbClr val="FFF7F6"/>
          </a:solidFill>
          <a:ln w="12700">
            <a:solidFill>
              <a:srgbClr val="F2D5D1"/>
            </a:solidFill>
          </a:ln>
        </p:spPr>
        <p:txBody>
          <a:bodyPr wrap="square" lIns="109728" rIns="109728" tIns="45720" bIns="45720" anchor="ctr"/>
          <a:lstStyle/>
          <a:p>
            <a:endParaRPr lang="ko-KR"/>
          </a:p>
        </p:txBody>
      </p:sp>
      <p:sp>
        <p:nvSpPr>
          <p:cNvPr id="10" name="Problem Title 0"/>
          <p:cNvSpPr/>
          <p:nvPr/>
        </p:nvSpPr>
        <p:spPr>
          <a:xfrm>
            <a:off x="749808" y="158191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100" b="1">
                <a:solidFill>
                  <a:srgbClr val="7E312A"/>
                </a:solidFill>
                <a:latin typeface="Malgun Gothic"/>
                <a:ea typeface="Malgun Gothic"/>
              </a:rPr>
              <a:t>매 호출마다 연결 생성</a:t>
            </a:r>
            <a:endParaRPr lang="ko-KR" sz="1100"/>
          </a:p>
        </p:txBody>
      </p:sp>
      <p:sp>
        <p:nvSpPr>
          <p:cNvPr id="11" name="Problem Sub 0"/>
          <p:cNvSpPr/>
          <p:nvPr/>
        </p:nvSpPr>
        <p:spPr>
          <a:xfrm>
            <a:off x="749808" y="180136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900">
                <a:solidFill>
                  <a:srgbClr val="9A625D"/>
                </a:solidFill>
                <a:latin typeface="Malgun Gothic"/>
                <a:ea typeface="Malgun Gothic"/>
              </a:rPr>
              <a:t>연결/종료 대기 누적</a:t>
            </a:r>
            <a:endParaRPr lang="ko-KR" sz="900"/>
          </a:p>
        </p:txBody>
      </p:sp>
      <p:sp>
        <p:nvSpPr>
          <p:cNvPr id="12" name="Problem Card 1"/>
          <p:cNvSpPr/>
          <p:nvPr/>
        </p:nvSpPr>
        <p:spPr>
          <a:xfrm>
            <a:off x="3218688" y="1536192"/>
            <a:ext cx="2331720" cy="530352"/>
          </a:xfrm>
          <a:prstGeom prst="roundRect">
            <a:avLst/>
          </a:prstGeom>
          <a:solidFill>
            <a:srgbClr val="FFF7F6"/>
          </a:solidFill>
          <a:ln w="12700">
            <a:solidFill>
              <a:srgbClr val="F2D5D1"/>
            </a:solidFill>
          </a:ln>
        </p:spPr>
        <p:txBody>
          <a:bodyPr wrap="square" lIns="109728" rIns="109728" tIns="45720" bIns="45720" anchor="ctr"/>
          <a:lstStyle/>
          <a:p>
            <a:endParaRPr lang="ko-KR"/>
          </a:p>
        </p:txBody>
      </p:sp>
      <p:sp>
        <p:nvSpPr>
          <p:cNvPr id="13" name="Problem Title 1"/>
          <p:cNvSpPr/>
          <p:nvPr/>
        </p:nvSpPr>
        <p:spPr>
          <a:xfrm>
            <a:off x="3328416" y="158191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100" b="1">
                <a:solidFill>
                  <a:srgbClr val="7E312A"/>
                </a:solidFill>
                <a:latin typeface="Malgun Gothic"/>
                <a:ea typeface="Malgun Gothic"/>
              </a:rPr>
              <a:t>변수별 개별 송수신</a:t>
            </a:r>
            <a:endParaRPr lang="ko-KR" sz="1100"/>
          </a:p>
        </p:txBody>
      </p:sp>
      <p:sp>
        <p:nvSpPr>
          <p:cNvPr id="14" name="Problem Sub 1"/>
          <p:cNvSpPr/>
          <p:nvPr/>
        </p:nvSpPr>
        <p:spPr>
          <a:xfrm>
            <a:off x="3328416" y="180136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900">
                <a:solidFill>
                  <a:srgbClr val="9A625D"/>
                </a:solidFill>
                <a:latin typeface="Malgun Gothic"/>
                <a:ea typeface="Malgun Gothic"/>
              </a:rPr>
              <a:t>Command 왕복 횟수 증가</a:t>
            </a:r>
            <a:endParaRPr lang="ko-KR" sz="900"/>
          </a:p>
        </p:txBody>
      </p:sp>
      <p:sp>
        <p:nvSpPr>
          <p:cNvPr id="15" name="Problem Card 2"/>
          <p:cNvSpPr/>
          <p:nvPr/>
        </p:nvSpPr>
        <p:spPr>
          <a:xfrm>
            <a:off x="5797296" y="1536192"/>
            <a:ext cx="2331720" cy="530352"/>
          </a:xfrm>
          <a:prstGeom prst="roundRect">
            <a:avLst/>
          </a:prstGeom>
          <a:solidFill>
            <a:srgbClr val="FFF7F6"/>
          </a:solidFill>
          <a:ln w="12700">
            <a:solidFill>
              <a:srgbClr val="F2D5D1"/>
            </a:solidFill>
          </a:ln>
        </p:spPr>
        <p:txBody>
          <a:bodyPr wrap="square" lIns="109728" rIns="109728" tIns="45720" bIns="45720" anchor="ctr"/>
          <a:lstStyle/>
          <a:p>
            <a:endParaRPr lang="ko-KR"/>
          </a:p>
        </p:txBody>
      </p:sp>
      <p:sp>
        <p:nvSpPr>
          <p:cNvPr id="16" name="Problem Title 2"/>
          <p:cNvSpPr/>
          <p:nvPr/>
        </p:nvSpPr>
        <p:spPr>
          <a:xfrm>
            <a:off x="5907024" y="158191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100" b="1">
                <a:solidFill>
                  <a:srgbClr val="7E312A"/>
                </a:solidFill>
                <a:latin typeface="Malgun Gothic"/>
                <a:ea typeface="Malgun Gothic"/>
              </a:rPr>
              <a:t>중복 입력·상세 로그 반복</a:t>
            </a:r>
            <a:endParaRPr lang="ko-KR" sz="1100"/>
          </a:p>
        </p:txBody>
      </p:sp>
      <p:sp>
        <p:nvSpPr>
          <p:cNvPr id="17" name="Problem Sub 2"/>
          <p:cNvSpPr/>
          <p:nvPr/>
        </p:nvSpPr>
        <p:spPr>
          <a:xfrm>
            <a:off x="5907024" y="180136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900">
                <a:solidFill>
                  <a:srgbClr val="9A625D"/>
                </a:solidFill>
                <a:latin typeface="Malgun Gothic"/>
                <a:ea typeface="Malgun Gothic"/>
              </a:rPr>
              <a:t>불필요한 작업 지속</a:t>
            </a:r>
            <a:endParaRPr lang="ko-KR" sz="900"/>
          </a:p>
        </p:txBody>
      </p:sp>
      <p:sp>
        <p:nvSpPr>
          <p:cNvPr id="18" name="Problem Arrow"/>
          <p:cNvSpPr/>
          <p:nvPr/>
        </p:nvSpPr>
        <p:spPr>
          <a:xfrm>
            <a:off x="8247888" y="1618488"/>
            <a:ext cx="475488" cy="32004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2400" b="1">
                <a:solidFill>
                  <a:srgbClr val="D05A50"/>
                </a:solidFill>
                <a:latin typeface="Malgun Gothic"/>
                <a:ea typeface="Malgun Gothic"/>
              </a:rPr>
              <a:t>→</a:t>
            </a:r>
            <a:endParaRPr lang="ko-KR" sz="2400"/>
          </a:p>
        </p:txBody>
      </p:sp>
      <p:sp>
        <p:nvSpPr>
          <p:cNvPr id="19" name="Problem Outcome"/>
          <p:cNvSpPr/>
          <p:nvPr/>
        </p:nvSpPr>
        <p:spPr>
          <a:xfrm>
            <a:off x="8796528" y="1463040"/>
            <a:ext cx="2651760" cy="658368"/>
          </a:xfrm>
          <a:prstGeom prst="roundRect">
            <a:avLst/>
          </a:prstGeom>
          <a:solidFill>
            <a:srgbClr val="FDE9E7"/>
          </a:solidFill>
          <a:ln w="12700">
            <a:solidFill>
              <a:srgbClr val="F3BDB7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200" b="1">
                <a:solidFill>
                  <a:srgbClr val="A33D35"/>
                </a:solidFill>
                <a:latin typeface="Malgun Gothic"/>
                <a:ea typeface="Malgun Gothic"/>
              </a:rPr>
              <a:t>FMU 통신 대기시간 누적</a:t>
            </a:r>
            <a:endParaRPr lang="ko-KR" sz="1200"/>
          </a:p>
          <a:p>
            <a:pPr algn="ctr"/>
            <a:r>
              <a:rPr lang="ko-KR" sz="1200" b="1">
                <a:solidFill>
                  <a:srgbClr val="A33D35"/>
                </a:solidFill>
                <a:latin typeface="Malgun Gothic"/>
                <a:ea typeface="Malgun Gothic"/>
              </a:rPr>
              <a:t>→ 전체 시뮬레이션 속도 저하</a:t>
            </a:r>
            <a:endParaRPr lang="ko-KR" sz="1200"/>
          </a:p>
        </p:txBody>
      </p:sp>
      <p:sp>
        <p:nvSpPr>
          <p:cNvPr id="20" name="Solution Panel"/>
          <p:cNvSpPr/>
          <p:nvPr/>
        </p:nvSpPr>
        <p:spPr>
          <a:xfrm>
            <a:off x="438912" y="2450592"/>
            <a:ext cx="7699248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txBody>
          <a:bodyPr wrap="square" lIns="109728" rIns="109728" tIns="45720" bIns="45720" anchor="ctr"/>
          <a:lstStyle/>
          <a:p>
            <a:endParaRPr lang="ko-KR"/>
          </a:p>
        </p:txBody>
      </p:sp>
      <p:sp>
        <p:nvSpPr>
          <p:cNvPr id="21" name="Solution Label"/>
          <p:cNvSpPr/>
          <p:nvPr/>
        </p:nvSpPr>
        <p:spPr>
          <a:xfrm>
            <a:off x="640080" y="2615184"/>
            <a:ext cx="1572768" cy="265176"/>
          </a:xfrm>
          <a:prstGeom prst="roundRect">
            <a:avLst/>
          </a:prstGeom>
          <a:solidFill>
            <a:srgbClr val="E5F7F4"/>
          </a:solidFill>
          <a:ln w="12700">
            <a:solidFill>
              <a:srgbClr val="B9E6DF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147D72"/>
                </a:solidFill>
                <a:latin typeface="Malgun Gothic"/>
                <a:ea typeface="Malgun Gothic"/>
              </a:rPr>
              <a:t>주요 개선 · 해결</a:t>
            </a:r>
            <a:endParaRPr lang="ko-KR" sz="1000"/>
          </a:p>
        </p:txBody>
      </p:sp>
      <p:sp>
        <p:nvSpPr>
          <p:cNvPr id="22" name="Solution Head Before"/>
          <p:cNvSpPr/>
          <p:nvPr/>
        </p:nvSpPr>
        <p:spPr>
          <a:xfrm>
            <a:off x="822960" y="2990088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100" b="1">
                <a:solidFill>
                  <a:srgbClr val="7B8797"/>
                </a:solidFill>
                <a:latin typeface="Malgun Gothic"/>
                <a:ea typeface="Malgun Gothic"/>
              </a:rPr>
              <a:t>개선 전</a:t>
            </a:r>
            <a:endParaRPr lang="ko-KR" sz="1100"/>
          </a:p>
        </p:txBody>
      </p:sp>
      <p:sp>
        <p:nvSpPr>
          <p:cNvPr id="23" name="Solution Head After"/>
          <p:cNvSpPr/>
          <p:nvPr/>
        </p:nvSpPr>
        <p:spPr>
          <a:xfrm>
            <a:off x="4754880" y="2990088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100" b="1">
                <a:solidFill>
                  <a:srgbClr val="147D8B"/>
                </a:solidFill>
                <a:latin typeface="Malgun Gothic"/>
                <a:ea typeface="Malgun Gothic"/>
              </a:rPr>
              <a:t>개선 후</a:t>
            </a:r>
            <a:endParaRPr lang="ko-KR" sz="1100"/>
          </a:p>
        </p:txBody>
      </p:sp>
      <p:sp>
        <p:nvSpPr>
          <p:cNvPr id="24" name="Before 0"/>
          <p:cNvSpPr/>
          <p:nvPr/>
        </p:nvSpPr>
        <p:spPr>
          <a:xfrm>
            <a:off x="694944" y="3346704"/>
            <a:ext cx="2852928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3E8EF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59677A"/>
                </a:solidFill>
                <a:latin typeface="Malgun Gothic"/>
                <a:ea typeface="Malgun Gothic"/>
              </a:rPr>
              <a:t>호출마다 Pipe 연결·종료</a:t>
            </a:r>
            <a:endParaRPr lang="ko-KR" sz="1000"/>
          </a:p>
        </p:txBody>
      </p:sp>
      <p:sp>
        <p:nvSpPr>
          <p:cNvPr id="25" name="Arrow 0"/>
          <p:cNvSpPr/>
          <p:nvPr/>
        </p:nvSpPr>
        <p:spPr>
          <a:xfrm>
            <a:off x="3675888" y="3401568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2000" b="1">
                <a:solidFill>
                  <a:srgbClr val="25B6C4"/>
                </a:solidFill>
                <a:latin typeface="Malgun Gothic"/>
                <a:ea typeface="Malgun Gothic"/>
              </a:rPr>
              <a:t>→</a:t>
            </a:r>
            <a:endParaRPr lang="ko-KR" sz="2000"/>
          </a:p>
        </p:txBody>
      </p:sp>
      <p:sp>
        <p:nvSpPr>
          <p:cNvPr id="26" name="After 0"/>
          <p:cNvSpPr/>
          <p:nvPr/>
        </p:nvSpPr>
        <p:spPr>
          <a:xfrm>
            <a:off x="4462272" y="3346704"/>
            <a:ext cx="3364992" cy="438912"/>
          </a:xfrm>
          <a:prstGeom prst="roundRect">
            <a:avLst/>
          </a:prstGeom>
          <a:solidFill>
            <a:srgbClr val="E8F7F8"/>
          </a:solidFill>
          <a:ln w="12700">
            <a:solidFill>
              <a:srgbClr val="BCE3E7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147D8B"/>
                </a:solidFill>
                <a:latin typeface="Malgun Gothic"/>
                <a:ea typeface="Malgun Gothic"/>
              </a:rPr>
              <a:t>지속 연결(Persistent Pipe) 유지</a:t>
            </a:r>
            <a:endParaRPr lang="ko-KR" sz="1000"/>
          </a:p>
        </p:txBody>
      </p:sp>
      <p:sp>
        <p:nvSpPr>
          <p:cNvPr id="27" name="Before 1"/>
          <p:cNvSpPr/>
          <p:nvPr/>
        </p:nvSpPr>
        <p:spPr>
          <a:xfrm>
            <a:off x="694944" y="3931920"/>
            <a:ext cx="2852928" cy="438912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E3E8EF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59677A"/>
                </a:solidFill>
                <a:latin typeface="Malgun Gothic"/>
                <a:ea typeface="Malgun Gothic"/>
              </a:rPr>
              <a:t>입·출력 변수를 항목별 전송</a:t>
            </a:r>
            <a:endParaRPr lang="ko-KR" sz="1000"/>
          </a:p>
        </p:txBody>
      </p:sp>
      <p:sp>
        <p:nvSpPr>
          <p:cNvPr id="28" name="Arrow 1"/>
          <p:cNvSpPr/>
          <p:nvPr/>
        </p:nvSpPr>
        <p:spPr>
          <a:xfrm>
            <a:off x="3675888" y="3986784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2000" b="1">
                <a:solidFill>
                  <a:srgbClr val="25B6C4"/>
                </a:solidFill>
                <a:latin typeface="Malgun Gothic"/>
                <a:ea typeface="Malgun Gothic"/>
              </a:rPr>
              <a:t>→</a:t>
            </a:r>
            <a:endParaRPr lang="ko-KR" sz="2000"/>
          </a:p>
        </p:txBody>
      </p:sp>
      <p:sp>
        <p:nvSpPr>
          <p:cNvPr id="29" name="After 1"/>
          <p:cNvSpPr/>
          <p:nvPr/>
        </p:nvSpPr>
        <p:spPr>
          <a:xfrm>
            <a:off x="4462272" y="3931920"/>
            <a:ext cx="3364992" cy="438912"/>
          </a:xfrm>
          <a:prstGeom prst="roundRect">
            <a:avLst/>
          </a:prstGeom>
          <a:solidFill>
            <a:srgbClr val="E8F7F8"/>
          </a:solidFill>
          <a:ln w="12700">
            <a:solidFill>
              <a:srgbClr val="BCE3E7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147D8B"/>
                </a:solidFill>
                <a:latin typeface="Malgun Gothic"/>
                <a:ea typeface="Malgun Gothic"/>
              </a:rPr>
              <a:t>입·출력 Batch I/O로 일괄 처리</a:t>
            </a:r>
            <a:endParaRPr lang="ko-KR" sz="1000"/>
          </a:p>
        </p:txBody>
      </p:sp>
      <p:sp>
        <p:nvSpPr>
          <p:cNvPr id="30" name="Before 2"/>
          <p:cNvSpPr/>
          <p:nvPr/>
        </p:nvSpPr>
        <p:spPr>
          <a:xfrm>
            <a:off x="694944" y="4517136"/>
            <a:ext cx="2852928" cy="4389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3E8EF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59677A"/>
                </a:solidFill>
                <a:latin typeface="Malgun Gothic"/>
                <a:ea typeface="Malgun Gothic"/>
              </a:rPr>
              <a:t>동일한 입력값도 매번 재전송</a:t>
            </a:r>
            <a:endParaRPr lang="ko-KR" sz="1000"/>
          </a:p>
        </p:txBody>
      </p:sp>
      <p:sp>
        <p:nvSpPr>
          <p:cNvPr id="31" name="Arrow 2"/>
          <p:cNvSpPr/>
          <p:nvPr/>
        </p:nvSpPr>
        <p:spPr>
          <a:xfrm>
            <a:off x="3675888" y="4572000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2000" b="1">
                <a:solidFill>
                  <a:srgbClr val="25B6C4"/>
                </a:solidFill>
                <a:latin typeface="Malgun Gothic"/>
                <a:ea typeface="Malgun Gothic"/>
              </a:rPr>
              <a:t>→</a:t>
            </a:r>
            <a:endParaRPr lang="ko-KR" sz="2000"/>
          </a:p>
        </p:txBody>
      </p:sp>
      <p:sp>
        <p:nvSpPr>
          <p:cNvPr id="32" name="After 2"/>
          <p:cNvSpPr/>
          <p:nvPr/>
        </p:nvSpPr>
        <p:spPr>
          <a:xfrm>
            <a:off x="4462272" y="4517136"/>
            <a:ext cx="3364992" cy="438912"/>
          </a:xfrm>
          <a:prstGeom prst="roundRect">
            <a:avLst/>
          </a:prstGeom>
          <a:solidFill>
            <a:srgbClr val="E8F7F8"/>
          </a:solidFill>
          <a:ln w="12700">
            <a:solidFill>
              <a:srgbClr val="BCE3E7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147D8B"/>
                </a:solidFill>
                <a:latin typeface="Malgun Gothic"/>
                <a:ea typeface="Malgun Gothic"/>
              </a:rPr>
              <a:t>변경된 입력값만 선택 전송</a:t>
            </a:r>
            <a:endParaRPr lang="ko-KR" sz="1000"/>
          </a:p>
        </p:txBody>
      </p:sp>
      <p:sp>
        <p:nvSpPr>
          <p:cNvPr id="33" name="Before 3"/>
          <p:cNvSpPr/>
          <p:nvPr/>
        </p:nvSpPr>
        <p:spPr>
          <a:xfrm>
            <a:off x="694944" y="5102352"/>
            <a:ext cx="2852928" cy="438912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E3E8EF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59677A"/>
                </a:solidFill>
                <a:latin typeface="Malgun Gothic"/>
                <a:ea typeface="Malgun Gothic"/>
              </a:rPr>
              <a:t>상세 로그를 반복 출력</a:t>
            </a:r>
            <a:endParaRPr lang="ko-KR" sz="1000"/>
          </a:p>
        </p:txBody>
      </p:sp>
      <p:sp>
        <p:nvSpPr>
          <p:cNvPr id="34" name="Arrow 3"/>
          <p:cNvSpPr/>
          <p:nvPr/>
        </p:nvSpPr>
        <p:spPr>
          <a:xfrm>
            <a:off x="3675888" y="5157216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2000" b="1">
                <a:solidFill>
                  <a:srgbClr val="25B6C4"/>
                </a:solidFill>
                <a:latin typeface="Malgun Gothic"/>
                <a:ea typeface="Malgun Gothic"/>
              </a:rPr>
              <a:t>→</a:t>
            </a:r>
            <a:endParaRPr lang="ko-KR" sz="2000"/>
          </a:p>
        </p:txBody>
      </p:sp>
      <p:sp>
        <p:nvSpPr>
          <p:cNvPr id="35" name="After 3"/>
          <p:cNvSpPr/>
          <p:nvPr/>
        </p:nvSpPr>
        <p:spPr>
          <a:xfrm>
            <a:off x="4462272" y="5102352"/>
            <a:ext cx="3364992" cy="438912"/>
          </a:xfrm>
          <a:prstGeom prst="roundRect">
            <a:avLst/>
          </a:prstGeom>
          <a:solidFill>
            <a:srgbClr val="E8F7F8"/>
          </a:solidFill>
          <a:ln w="12700">
            <a:solidFill>
              <a:srgbClr val="BCE3E7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147D8B"/>
                </a:solidFill>
                <a:latin typeface="Malgun Gothic"/>
                <a:ea typeface="Malgun Gothic"/>
              </a:rPr>
              <a:t>기본 로그 경량화 + FMU별 시간 계측</a:t>
            </a:r>
            <a:endParaRPr lang="ko-KR" sz="1000"/>
          </a:p>
        </p:txBody>
      </p:sp>
      <p:sp>
        <p:nvSpPr>
          <p:cNvPr id="36" name="Preserved Rule"/>
          <p:cNvSpPr/>
          <p:nvPr/>
        </p:nvSpPr>
        <p:spPr>
          <a:xfrm>
            <a:off x="694944" y="5650992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900">
                <a:solidFill>
                  <a:srgbClr val="6D798A"/>
                </a:solidFill>
                <a:latin typeface="Malgun Gothic"/>
                <a:ea typeface="Malgun Gothic"/>
              </a:rPr>
              <a:t>※ Controller → Product → Plant 순차 실행, FMU 계산 중 LBM Pause, 기존 결과 정확도 유지</a:t>
            </a:r>
            <a:endParaRPr lang="ko-KR" sz="900"/>
          </a:p>
        </p:txBody>
      </p:sp>
      <p:sp>
        <p:nvSpPr>
          <p:cNvPr id="37" name="Result Panel"/>
          <p:cNvSpPr/>
          <p:nvPr/>
        </p:nvSpPr>
        <p:spPr>
          <a:xfrm>
            <a:off x="8357616" y="2450592"/>
            <a:ext cx="3392424" cy="3547872"/>
          </a:xfrm>
          <a:prstGeom prst="roundRect">
            <a:avLst/>
          </a:prstGeom>
          <a:solidFill>
            <a:srgbClr val="12243B"/>
          </a:solidFill>
          <a:ln w="12700">
            <a:solidFill>
              <a:srgbClr val="12243B"/>
            </a:solidFill>
          </a:ln>
        </p:spPr>
        <p:txBody>
          <a:bodyPr wrap="square" lIns="109728" rIns="109728" tIns="45720" bIns="45720" anchor="ctr"/>
          <a:lstStyle/>
          <a:p>
            <a:endParaRPr lang="ko-KR"/>
          </a:p>
        </p:txBody>
      </p:sp>
      <p:sp>
        <p:nvSpPr>
          <p:cNvPr id="38" name="Result Label"/>
          <p:cNvSpPr/>
          <p:nvPr/>
        </p:nvSpPr>
        <p:spPr>
          <a:xfrm>
            <a:off x="8595360" y="2642616"/>
            <a:ext cx="1124712" cy="256032"/>
          </a:xfrm>
          <a:prstGeom prst="roundRect">
            <a:avLst/>
          </a:prstGeom>
          <a:solidFill>
            <a:srgbClr val="F3A64A"/>
          </a:solidFill>
          <a:ln w="12700">
            <a:solidFill>
              <a:srgbClr val="F3A64A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111B2E"/>
                </a:solidFill>
                <a:latin typeface="Malgun Gothic"/>
                <a:ea typeface="Malgun Gothic"/>
              </a:rPr>
              <a:t>개선 성과</a:t>
            </a:r>
            <a:endParaRPr lang="ko-KR" sz="1000"/>
          </a:p>
        </p:txBody>
      </p:sp>
      <p:sp>
        <p:nvSpPr>
          <p:cNvPr id="39" name="Result Main"/>
          <p:cNvSpPr/>
          <p:nvPr/>
        </p:nvSpPr>
        <p:spPr>
          <a:xfrm>
            <a:off x="8595360" y="3026664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l"/>
            <a:r>
              <a:rPr lang="ko-KR" sz="3100" b="1">
                <a:solidFill>
                  <a:srgbClr val="53D7C2"/>
                </a:solidFill>
                <a:latin typeface="Malgun Gothic"/>
                <a:ea typeface="Malgun Gothic"/>
              </a:rPr>
              <a:t>5~8%</a:t>
            </a:r>
            <a:endParaRPr lang="ko-KR" sz="3100"/>
          </a:p>
        </p:txBody>
      </p:sp>
      <p:sp>
        <p:nvSpPr>
          <p:cNvPr id="40" name="Result Main Text"/>
          <p:cNvSpPr/>
          <p:nvPr/>
        </p:nvSpPr>
        <p:spPr>
          <a:xfrm>
            <a:off x="9912096" y="31272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tIns="45720" bIns="45720" anchor="ctr"/>
          <a:lstStyle/>
          <a:p>
            <a:pPr algn="l"/>
            <a:r>
              <a:rPr lang="ko-KR" sz="1400" b="1">
                <a:solidFill>
                  <a:srgbClr val="FFFFFF"/>
                </a:solidFill>
                <a:latin typeface="Malgun Gothic"/>
                <a:ea typeface="Malgun Gothic"/>
              </a:rPr>
              <a:t>속도 개선</a:t>
            </a:r>
            <a:endParaRPr lang="ko-KR" sz="1400"/>
          </a:p>
        </p:txBody>
      </p:sp>
      <p:sp>
        <p:nvSpPr>
          <p:cNvPr id="41" name="Metric 1"/>
          <p:cNvSpPr/>
          <p:nvPr/>
        </p:nvSpPr>
        <p:spPr>
          <a:xfrm>
            <a:off x="8595360" y="3675888"/>
            <a:ext cx="2761488" cy="448056"/>
          </a:xfrm>
          <a:prstGeom prst="roundRect">
            <a:avLst/>
          </a:prstGeom>
          <a:solidFill>
            <a:srgbClr val="1D334E"/>
          </a:solidFill>
          <a:ln w="12700">
            <a:solidFill>
              <a:srgbClr val="294762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DDE9F5"/>
                </a:solidFill>
                <a:latin typeface="Malgun Gothic"/>
                <a:ea typeface="Malgun Gothic"/>
              </a:rPr>
              <a:t>물리 4초 전체  31.67 → 29.72초  ▼6.1%</a:t>
            </a:r>
            <a:endParaRPr lang="ko-KR" sz="1000"/>
          </a:p>
        </p:txBody>
      </p:sp>
      <p:sp>
        <p:nvSpPr>
          <p:cNvPr id="42" name="Metric 2"/>
          <p:cNvSpPr/>
          <p:nvPr/>
        </p:nvSpPr>
        <p:spPr>
          <a:xfrm>
            <a:off x="8595360" y="4224528"/>
            <a:ext cx="2761488" cy="448056"/>
          </a:xfrm>
          <a:prstGeom prst="roundRect">
            <a:avLst/>
          </a:prstGeom>
          <a:solidFill>
            <a:srgbClr val="1D334E"/>
          </a:solidFill>
          <a:ln w="12700">
            <a:solidFill>
              <a:srgbClr val="294762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DDE9F5"/>
                </a:solidFill>
                <a:latin typeface="Malgun Gothic"/>
                <a:ea typeface="Malgun Gothic"/>
              </a:rPr>
              <a:t>안정 1초  6.08 → 5.74초  ▼5.5%</a:t>
            </a:r>
            <a:endParaRPr lang="ko-KR" sz="1000"/>
          </a:p>
        </p:txBody>
      </p:sp>
      <p:sp>
        <p:nvSpPr>
          <p:cNvPr id="43" name="Metric 3"/>
          <p:cNvSpPr/>
          <p:nvPr/>
        </p:nvSpPr>
        <p:spPr>
          <a:xfrm>
            <a:off x="8595360" y="4773168"/>
            <a:ext cx="2761488" cy="448056"/>
          </a:xfrm>
          <a:prstGeom prst="roundRect">
            <a:avLst/>
          </a:prstGeom>
          <a:solidFill>
            <a:srgbClr val="173B46"/>
          </a:solidFill>
          <a:ln w="12700">
            <a:solidFill>
              <a:srgbClr val="28616A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7DE0D0"/>
                </a:solidFill>
                <a:latin typeface="Malgun Gothic"/>
                <a:ea typeface="Malgun Gothic"/>
              </a:rPr>
              <a:t>R1·R2 풍량 출력 동일 · 결과 변화 없음</a:t>
            </a:r>
            <a:endParaRPr lang="ko-KR" sz="1000"/>
          </a:p>
        </p:txBody>
      </p:sp>
      <p:sp>
        <p:nvSpPr>
          <p:cNvPr id="44" name="Bottleneck"/>
          <p:cNvSpPr/>
          <p:nvPr/>
        </p:nvSpPr>
        <p:spPr>
          <a:xfrm>
            <a:off x="8595360" y="5404104"/>
            <a:ext cx="2761488" cy="411480"/>
          </a:xfrm>
          <a:prstGeom prst="roundRect">
            <a:avLst/>
          </a:prstGeom>
          <a:solidFill>
            <a:srgbClr val="3A2E28"/>
          </a:solidFill>
          <a:ln w="12700">
            <a:solidFill>
              <a:srgbClr val="65473A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F4C482"/>
                </a:solidFill>
                <a:latin typeface="Malgun Gothic"/>
                <a:ea typeface="Malgun Gothic"/>
              </a:rPr>
              <a:t>잔여 병목: Product FMU 내부 DASSL</a:t>
            </a:r>
            <a:endParaRPr lang="ko-KR" sz="1000"/>
          </a:p>
        </p:txBody>
      </p:sp>
      <p:sp>
        <p:nvSpPr>
          <p:cNvPr id="45" name="Footer Strip"/>
          <p:cNvSpPr/>
          <p:nvPr/>
        </p:nvSpPr>
        <p:spPr>
          <a:xfrm>
            <a:off x="438912" y="6181344"/>
            <a:ext cx="11311128" cy="411480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D6DFEA"/>
            </a:solidFill>
          </a:ln>
        </p:spPr>
        <p:txBody>
          <a:bodyPr wrap="square" lIns="109728" rIns="109728" tIns="45720" bIns="45720" anchor="ctr"/>
          <a:lstStyle/>
          <a:p>
            <a:pPr algn="ctr"/>
            <a:r>
              <a:rPr lang="ko-KR" sz="1000" b="1">
                <a:solidFill>
                  <a:srgbClr val="40516A"/>
                </a:solidFill>
                <a:latin typeface="Malgun Gothic"/>
                <a:ea typeface="Malgun Gothic"/>
              </a:rPr>
              <a:t>NEXT  |  Product FMU 이벤트·반복 계산 분석 → DASSL/Modelica 최적화 → FMU 재생성 후 동일 조건 비교</a:t>
            </a:r>
            <a:endParaRPr lang="ko-KR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MU LBM Report">
  <a:themeElements>
    <a:clrScheme name="Custom">
      <a:dk1>
        <a:srgbClr val="111B2E"/>
      </a:dk1>
      <a:lt1>
        <a:srgbClr val="FFFFFF"/>
      </a:lt1>
      <a:dk2>
        <a:srgbClr val="172033"/>
      </a:dk2>
      <a:lt2>
        <a:srgbClr val="F4F7FB"/>
      </a:lt2>
      <a:accent1>
        <a:srgbClr val="25B6C4"/>
      </a:accent1>
      <a:accent2>
        <a:srgbClr val="F3A64A"/>
      </a:accent2>
      <a:accent3>
        <a:srgbClr val="53D7C2"/>
      </a:accent3>
      <a:accent4>
        <a:srgbClr val="4F81BD"/>
      </a:accent4>
      <a:accent5>
        <a:srgbClr val="8064A2"/>
      </a:accent5>
      <a:accent6>
        <a:srgbClr val="C0504D"/>
      </a:accent6>
      <a:hlink>
        <a:srgbClr val="0563C1"/>
      </a:hlink>
      <a:folHlink>
        <a:srgbClr val="954F72"/>
      </a:folHlink>
    </a:clrScheme>
    <a:fontScheme name="Malgun Gothic">
      <a:majorFont>
        <a:latin typeface="Malgun Gothic"/>
        <a:ea typeface="Malgun Gothic"/>
        <a:cs typeface="Arial"/>
      </a:majorFont>
      <a:minorFont>
        <a:latin typeface="Malgun Gothic"/>
        <a:ea typeface="Malgun Gothic"/>
        <a:cs typeface="Arial"/>
      </a:minorFont>
    </a:fontScheme>
    <a:fmtScheme name="Custom">
      <a:fillStyleLst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FMU–LBM 연동 성능 개선 결과 보고</dc:title>
  <dc:creator>OpenAI Codex</dc:creator>
  <cp:lastModifiedBy>OpenAI Codex</cp:lastModifiedBy>
  <dcterms:created xsi:type="dcterms:W3CDTF">2026-09-29T00:00:00Z</dcterms:created>
  <dcterms:modified xsi:type="dcterms:W3CDTF">2026-09-29T00:00:00Z</dcterms:modified>
</cp:coreProperties>
</file>